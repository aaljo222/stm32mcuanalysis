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E8ABA8-FDEB-4CDE-9DD5-B08D4429A9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C966424-2D91-4252-B00C-CB6ADBFE75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311F5E-AAD1-4406-8DC4-C33BB9416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A7135-F25E-48ED-9B0A-47B52E7B5B72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FC852D-ABB6-4D99-A8E7-05B68CB4D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23E3E3-CEAD-4E93-A1BE-174536BD4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66B83-0B4C-497C-BBC9-7F66FA806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043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2185CE-9381-4DC6-8016-1D04C2154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056D71-39D0-4EC5-A130-860BFF5FC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D6EB62-3BD0-4E3D-990C-853910ACB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A7135-F25E-48ED-9B0A-47B52E7B5B72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4CD48F-F21B-4A5B-B6F1-17DB06526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52E695-7E8D-47FB-94F2-D9CCE4AB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66B83-0B4C-497C-BBC9-7F66FA806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510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4A2D4E-4444-4511-8922-53D52E27C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E06B77-D670-4B60-ADEA-2F1A3D882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3CB2E2-15F5-4156-9DFC-F3B903AC6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A7135-F25E-48ED-9B0A-47B52E7B5B72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250FAA-A2ED-45F0-83DA-41B94E38B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722DDB-E601-4C97-A898-3A1A72873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66B83-0B4C-497C-BBC9-7F66FA806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8587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8EBB1B-492C-4D8B-9994-B7427BEB3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2270C6-5EF0-4A15-83C8-73F24B6CE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76BC5E-6359-405E-833F-185EBE7AE0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AD032B-9047-4DB8-82B7-CEE2FCE91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A7135-F25E-48ED-9B0A-47B52E7B5B72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705038-8C37-440F-8D86-6C691D533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942326-3660-499A-BC66-649A2E34D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66B83-0B4C-497C-BBC9-7F66FA806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1704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7793B8-BB3B-4A7F-BBBE-DEDB425EF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33614B-C7E3-4478-979E-F41A0E810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C067A7-3EE2-44D0-9B5B-D7829BD70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84FF199-4A40-4344-8B57-E7CE0C3034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7B81BED-A0AD-40A7-91BA-E447C18092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1E1B393-22ED-4EAB-BEA3-E8CCC367D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A7135-F25E-48ED-9B0A-47B52E7B5B72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2CDE947-6233-41A7-834A-EA6C15971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A44543B-4C39-411F-BF35-6E0FBF758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66B83-0B4C-497C-BBC9-7F66FA806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2622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1BC973-73D2-4CB4-9AD3-77D2B621F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E4EE03D-4CB2-4F1A-B76B-9A2E83FF9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A7135-F25E-48ED-9B0A-47B52E7B5B72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484599F-93DD-4FCC-A421-45020A98C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C503518-139B-471B-9458-E234A5C6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66B83-0B4C-497C-BBC9-7F66FA806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617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E89616-0128-4640-8D93-7A56436FA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A7135-F25E-48ED-9B0A-47B52E7B5B72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13F624-1D38-481B-A6CA-FEBF46173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83F51B-7A24-415E-B57C-1E3BE8CEC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66B83-0B4C-497C-BBC9-7F66FA806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746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33BADE-8877-4054-AA4E-99705B1A5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1FF379-CEE4-4B16-888E-85E4A488C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3444110-32FB-46F5-AF17-117BE9FFD7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A38159-7F5B-471C-A444-5D5E0B824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A7135-F25E-48ED-9B0A-47B52E7B5B72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C39B27-CCC1-4D8E-B84C-DB8DD3E87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14CE57-60CE-48B7-9D04-D0F4D7F49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66B83-0B4C-497C-BBC9-7F66FA806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5577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F426F8-7B06-4EAC-886C-9EE08FFB1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7DE825C-1310-4A96-B349-9A5D70F820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47FD7E4-7057-40E5-92CE-24A732083A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372D10-DAED-42BC-81F1-8F9C6904D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A7135-F25E-48ED-9B0A-47B52E7B5B72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926099-F0A5-4288-BA14-B10E935F2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630E29-861F-41AA-9656-827AA95A3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66B83-0B4C-497C-BBC9-7F66FA806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709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3F9988-F4C6-456B-A106-B77164A59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6B0425-A702-4383-A1E7-6A18EA5E97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07CA5E-E2C3-4D6B-ADAC-5CBC6508F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A7135-F25E-48ED-9B0A-47B52E7B5B72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265940-AE1E-4680-865A-ADB35210A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32A78D-BA99-4E3A-BC34-C9C0FC6DA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66B83-0B4C-497C-BBC9-7F66FA806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330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B4B1E83-D83F-4C67-9B22-5671DE5806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3E14B5F-67A0-4D3D-ACC2-DE1CDDAA29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19C91B-19CD-4D16-A921-0B5FA36E2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A7135-F25E-48ED-9B0A-47B52E7B5B72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D1C82C-E5C5-4F13-B5DB-2CB734137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CA513D-9381-4CAA-B54E-97858AC08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66B83-0B4C-497C-BBC9-7F66FA806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5942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854320A-D6B8-4067-BFBF-94A52C156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940B5D-CACC-4DED-AFAE-FFD622016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61C393-AFDB-4464-929C-E47B134E95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A7135-F25E-48ED-9B0A-47B52E7B5B72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C5033F-82BA-4E30-B048-15B75D5F54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B12F4A-E5FB-43FA-8FB6-A48C90B0C2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66B83-0B4C-497C-BBC9-7F66FA806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764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6EAB41-B499-474E-B9F9-9CA2347240DF}"/>
              </a:ext>
            </a:extLst>
          </p:cNvPr>
          <p:cNvSpPr txBox="1"/>
          <p:nvPr/>
        </p:nvSpPr>
        <p:spPr>
          <a:xfrm>
            <a:off x="2133600" y="1104900"/>
            <a:ext cx="6419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/>
              <a:t>int</a:t>
            </a:r>
            <a:r>
              <a:rPr lang="ko-KR" altLang="en-US" sz="4800"/>
              <a:t> </a:t>
            </a:r>
            <a:r>
              <a:rPr lang="en-US" altLang="ko-KR" sz="4800"/>
              <a:t>a</a:t>
            </a:r>
            <a:r>
              <a:rPr lang="ko-KR" altLang="en-US" sz="4800"/>
              <a:t> </a:t>
            </a:r>
            <a:r>
              <a:rPr lang="en-US" altLang="ko-KR" sz="4800"/>
              <a:t>=</a:t>
            </a:r>
            <a:r>
              <a:rPr lang="ko-KR" altLang="en-US" sz="4800"/>
              <a:t> </a:t>
            </a:r>
            <a:r>
              <a:rPr lang="en-US" altLang="ko-KR" sz="4800"/>
              <a:t>30</a:t>
            </a:r>
            <a:endParaRPr lang="ko-KR" altLang="en-US" sz="4800" dirty="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57E45E7-B558-4DBE-B55A-6EC2EFD5F074}"/>
              </a:ext>
            </a:extLst>
          </p:cNvPr>
          <p:cNvCxnSpPr/>
          <p:nvPr/>
        </p:nvCxnSpPr>
        <p:spPr>
          <a:xfrm flipV="1">
            <a:off x="1947862" y="1935897"/>
            <a:ext cx="371475" cy="6191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B590D6C-4A0C-4D53-A311-21B711C83C0F}"/>
              </a:ext>
            </a:extLst>
          </p:cNvPr>
          <p:cNvSpPr txBox="1"/>
          <p:nvPr/>
        </p:nvSpPr>
        <p:spPr>
          <a:xfrm>
            <a:off x="1200149" y="2842914"/>
            <a:ext cx="2238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 자료형 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9E3630D-E705-469D-B505-CB7954F4E351}"/>
              </a:ext>
            </a:extLst>
          </p:cNvPr>
          <p:cNvCxnSpPr>
            <a:cxnSpLocks/>
          </p:cNvCxnSpPr>
          <p:nvPr/>
        </p:nvCxnSpPr>
        <p:spPr>
          <a:xfrm flipH="1" flipV="1">
            <a:off x="3409950" y="1847851"/>
            <a:ext cx="419100" cy="8000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301571D-93AA-4E82-9DA8-03FC468558A0}"/>
              </a:ext>
            </a:extLst>
          </p:cNvPr>
          <p:cNvSpPr txBox="1"/>
          <p:nvPr/>
        </p:nvSpPr>
        <p:spPr>
          <a:xfrm>
            <a:off x="3217068" y="2857321"/>
            <a:ext cx="4231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변수명</a:t>
            </a:r>
            <a:r>
              <a:rPr lang="en-US" altLang="ko-KR" dirty="0"/>
              <a:t>(</a:t>
            </a:r>
            <a:r>
              <a:rPr lang="ko-KR" altLang="en-US" dirty="0"/>
              <a:t>데이터를 저장할 상자</a:t>
            </a:r>
            <a:r>
              <a:rPr lang="en-US" altLang="ko-KR" dirty="0"/>
              <a:t>(</a:t>
            </a:r>
            <a:r>
              <a:rPr lang="ko-KR" altLang="en-US" dirty="0"/>
              <a:t>공간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9C5DB75-F3E2-4ABE-9FFF-A7B1EFFBCD1A}"/>
              </a:ext>
            </a:extLst>
          </p:cNvPr>
          <p:cNvCxnSpPr>
            <a:cxnSpLocks/>
          </p:cNvCxnSpPr>
          <p:nvPr/>
        </p:nvCxnSpPr>
        <p:spPr>
          <a:xfrm flipH="1" flipV="1">
            <a:off x="4919663" y="1772604"/>
            <a:ext cx="3042047" cy="87534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B1D8339-26BE-4245-9CE0-693EDFFA2C5D}"/>
              </a:ext>
            </a:extLst>
          </p:cNvPr>
          <p:cNvSpPr txBox="1"/>
          <p:nvPr/>
        </p:nvSpPr>
        <p:spPr>
          <a:xfrm>
            <a:off x="7448550" y="2738051"/>
            <a:ext cx="1594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</a:t>
            </a:r>
            <a:r>
              <a:rPr lang="en-US" altLang="ko-KR" dirty="0"/>
              <a:t>(</a:t>
            </a:r>
            <a:r>
              <a:rPr lang="ko-KR" altLang="en-US" dirty="0"/>
              <a:t>값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F13838-C9BA-44F8-A09E-400AD691D0A9}"/>
              </a:ext>
            </a:extLst>
          </p:cNvPr>
          <p:cNvSpPr txBox="1"/>
          <p:nvPr/>
        </p:nvSpPr>
        <p:spPr>
          <a:xfrm>
            <a:off x="2038350" y="3509664"/>
            <a:ext cx="6419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/>
              <a:t>Char</a:t>
            </a:r>
            <a:r>
              <a:rPr lang="ko-KR" altLang="en-US" sz="4800" dirty="0"/>
              <a:t> </a:t>
            </a:r>
            <a:r>
              <a:rPr lang="en-US" altLang="ko-KR" sz="4800" dirty="0"/>
              <a:t>b</a:t>
            </a:r>
            <a:r>
              <a:rPr lang="ko-KR" altLang="en-US" sz="4800" dirty="0"/>
              <a:t> </a:t>
            </a:r>
            <a:r>
              <a:rPr lang="en-US" altLang="ko-KR" sz="4800" dirty="0"/>
              <a:t>=</a:t>
            </a:r>
            <a:r>
              <a:rPr lang="ko-KR" altLang="en-US" sz="4800" dirty="0"/>
              <a:t> </a:t>
            </a:r>
            <a:r>
              <a:rPr lang="en-US" altLang="ko-KR" sz="4800" dirty="0"/>
              <a:t>‘A’</a:t>
            </a:r>
            <a:endParaRPr lang="ko-KR" altLang="en-US" sz="4800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E0ABBBA2-6AC1-4DA7-9804-06EF55241DFC}"/>
              </a:ext>
            </a:extLst>
          </p:cNvPr>
          <p:cNvCxnSpPr/>
          <p:nvPr/>
        </p:nvCxnSpPr>
        <p:spPr>
          <a:xfrm flipV="1">
            <a:off x="1852612" y="4340661"/>
            <a:ext cx="371475" cy="6191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3662442-3E87-46B2-BC5E-B206E94B212E}"/>
              </a:ext>
            </a:extLst>
          </p:cNvPr>
          <p:cNvSpPr txBox="1"/>
          <p:nvPr/>
        </p:nvSpPr>
        <p:spPr>
          <a:xfrm>
            <a:off x="1104899" y="5247678"/>
            <a:ext cx="2238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 자료형 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EC96EC85-9F05-4597-A69D-70871378C36D}"/>
              </a:ext>
            </a:extLst>
          </p:cNvPr>
          <p:cNvCxnSpPr>
            <a:cxnSpLocks/>
          </p:cNvCxnSpPr>
          <p:nvPr/>
        </p:nvCxnSpPr>
        <p:spPr>
          <a:xfrm flipH="1" flipV="1">
            <a:off x="3314700" y="4252615"/>
            <a:ext cx="419100" cy="8000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E3A55F7-0B0C-455A-A8EC-7773E052BF0B}"/>
              </a:ext>
            </a:extLst>
          </p:cNvPr>
          <p:cNvSpPr txBox="1"/>
          <p:nvPr/>
        </p:nvSpPr>
        <p:spPr>
          <a:xfrm>
            <a:off x="3121818" y="5262085"/>
            <a:ext cx="4231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변수명</a:t>
            </a:r>
            <a:r>
              <a:rPr lang="en-US" altLang="ko-KR" dirty="0"/>
              <a:t>(</a:t>
            </a:r>
            <a:r>
              <a:rPr lang="ko-KR" altLang="en-US" dirty="0"/>
              <a:t>데이터를 저장할 상자</a:t>
            </a:r>
            <a:r>
              <a:rPr lang="en-US" altLang="ko-KR" dirty="0"/>
              <a:t>(</a:t>
            </a:r>
            <a:r>
              <a:rPr lang="ko-KR" altLang="en-US" dirty="0"/>
              <a:t>공간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24C78C86-E86D-4BC2-A374-063D7BDCB260}"/>
              </a:ext>
            </a:extLst>
          </p:cNvPr>
          <p:cNvCxnSpPr>
            <a:cxnSpLocks/>
          </p:cNvCxnSpPr>
          <p:nvPr/>
        </p:nvCxnSpPr>
        <p:spPr>
          <a:xfrm flipH="1" flipV="1">
            <a:off x="5276850" y="4355068"/>
            <a:ext cx="3042047" cy="87534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1FD1592-3AD4-42E9-B596-6289D67D00A1}"/>
              </a:ext>
            </a:extLst>
          </p:cNvPr>
          <p:cNvSpPr txBox="1"/>
          <p:nvPr/>
        </p:nvSpPr>
        <p:spPr>
          <a:xfrm>
            <a:off x="7475935" y="5383768"/>
            <a:ext cx="1594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</a:t>
            </a:r>
            <a:r>
              <a:rPr lang="en-US" altLang="ko-KR" dirty="0"/>
              <a:t>(</a:t>
            </a:r>
            <a:r>
              <a:rPr lang="ko-KR" altLang="en-US" dirty="0"/>
              <a:t>값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9E5D24-D494-4FC3-A45A-0BF9F81F799F}"/>
              </a:ext>
            </a:extLst>
          </p:cNvPr>
          <p:cNvSpPr txBox="1"/>
          <p:nvPr/>
        </p:nvSpPr>
        <p:spPr>
          <a:xfrm>
            <a:off x="7157144" y="281285"/>
            <a:ext cx="2602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정수는 </a:t>
            </a:r>
            <a:r>
              <a:rPr lang="en-US" altLang="ko-KR" dirty="0"/>
              <a:t>4 byte 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FB8BFC-0F41-4763-9157-AAA5FCBAAB4C}"/>
              </a:ext>
            </a:extLst>
          </p:cNvPr>
          <p:cNvSpPr txBox="1"/>
          <p:nvPr/>
        </p:nvSpPr>
        <p:spPr>
          <a:xfrm>
            <a:off x="8848728" y="5262085"/>
            <a:ext cx="2602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문자는 </a:t>
            </a:r>
            <a:r>
              <a:rPr lang="en-US" altLang="ko-KR" dirty="0"/>
              <a:t>1 byte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2071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6EAB41-B499-474E-B9F9-9CA2347240DF}"/>
              </a:ext>
            </a:extLst>
          </p:cNvPr>
          <p:cNvSpPr txBox="1"/>
          <p:nvPr/>
        </p:nvSpPr>
        <p:spPr>
          <a:xfrm>
            <a:off x="2133600" y="1104900"/>
            <a:ext cx="6419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/>
              <a:t>int</a:t>
            </a:r>
            <a:r>
              <a:rPr lang="ko-KR" altLang="en-US" sz="4800"/>
              <a:t> </a:t>
            </a:r>
            <a:r>
              <a:rPr lang="en-US" altLang="ko-KR" sz="4800"/>
              <a:t>a</a:t>
            </a:r>
            <a:r>
              <a:rPr lang="ko-KR" altLang="en-US" sz="4800"/>
              <a:t> </a:t>
            </a:r>
            <a:r>
              <a:rPr lang="en-US" altLang="ko-KR" sz="4800"/>
              <a:t>=</a:t>
            </a:r>
            <a:r>
              <a:rPr lang="ko-KR" altLang="en-US" sz="4800"/>
              <a:t> </a:t>
            </a:r>
            <a:r>
              <a:rPr lang="en-US" altLang="ko-KR" sz="4800"/>
              <a:t>30</a:t>
            </a:r>
            <a:endParaRPr lang="ko-KR" altLang="en-US" sz="4800" dirty="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57E45E7-B558-4DBE-B55A-6EC2EFD5F074}"/>
              </a:ext>
            </a:extLst>
          </p:cNvPr>
          <p:cNvCxnSpPr/>
          <p:nvPr/>
        </p:nvCxnSpPr>
        <p:spPr>
          <a:xfrm flipV="1">
            <a:off x="1947862" y="1935897"/>
            <a:ext cx="371475" cy="6191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B590D6C-4A0C-4D53-A311-21B711C83C0F}"/>
              </a:ext>
            </a:extLst>
          </p:cNvPr>
          <p:cNvSpPr txBox="1"/>
          <p:nvPr/>
        </p:nvSpPr>
        <p:spPr>
          <a:xfrm>
            <a:off x="1200149" y="2842914"/>
            <a:ext cx="2238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 자료형 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9E3630D-E705-469D-B505-CB7954F4E351}"/>
              </a:ext>
            </a:extLst>
          </p:cNvPr>
          <p:cNvCxnSpPr>
            <a:cxnSpLocks/>
          </p:cNvCxnSpPr>
          <p:nvPr/>
        </p:nvCxnSpPr>
        <p:spPr>
          <a:xfrm flipH="1" flipV="1">
            <a:off x="3409950" y="1847851"/>
            <a:ext cx="419100" cy="8000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301571D-93AA-4E82-9DA8-03FC468558A0}"/>
              </a:ext>
            </a:extLst>
          </p:cNvPr>
          <p:cNvSpPr txBox="1"/>
          <p:nvPr/>
        </p:nvSpPr>
        <p:spPr>
          <a:xfrm>
            <a:off x="3217068" y="2857321"/>
            <a:ext cx="4231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변수명</a:t>
            </a:r>
            <a:r>
              <a:rPr lang="en-US" altLang="ko-KR" dirty="0"/>
              <a:t>(</a:t>
            </a:r>
            <a:r>
              <a:rPr lang="ko-KR" altLang="en-US" dirty="0"/>
              <a:t>데이터를 저장할 상자</a:t>
            </a:r>
            <a:r>
              <a:rPr lang="en-US" altLang="ko-KR" dirty="0"/>
              <a:t>(</a:t>
            </a:r>
            <a:r>
              <a:rPr lang="ko-KR" altLang="en-US" dirty="0"/>
              <a:t>공간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9C5DB75-F3E2-4ABE-9FFF-A7B1EFFBCD1A}"/>
              </a:ext>
            </a:extLst>
          </p:cNvPr>
          <p:cNvCxnSpPr>
            <a:cxnSpLocks/>
          </p:cNvCxnSpPr>
          <p:nvPr/>
        </p:nvCxnSpPr>
        <p:spPr>
          <a:xfrm flipH="1" flipV="1">
            <a:off x="4919663" y="1772604"/>
            <a:ext cx="3042047" cy="87534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B1D8339-26BE-4245-9CE0-693EDFFA2C5D}"/>
              </a:ext>
            </a:extLst>
          </p:cNvPr>
          <p:cNvSpPr txBox="1"/>
          <p:nvPr/>
        </p:nvSpPr>
        <p:spPr>
          <a:xfrm>
            <a:off x="7448550" y="2738051"/>
            <a:ext cx="1594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</a:t>
            </a:r>
            <a:r>
              <a:rPr lang="en-US" altLang="ko-KR" dirty="0"/>
              <a:t>(</a:t>
            </a:r>
            <a:r>
              <a:rPr lang="ko-KR" altLang="en-US" dirty="0"/>
              <a:t>값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F13838-C9BA-44F8-A09E-400AD691D0A9}"/>
              </a:ext>
            </a:extLst>
          </p:cNvPr>
          <p:cNvSpPr txBox="1"/>
          <p:nvPr/>
        </p:nvSpPr>
        <p:spPr>
          <a:xfrm>
            <a:off x="2038350" y="3509664"/>
            <a:ext cx="6419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/>
              <a:t>Char</a:t>
            </a:r>
            <a:r>
              <a:rPr lang="ko-KR" altLang="en-US" sz="4800" dirty="0"/>
              <a:t> </a:t>
            </a:r>
            <a:r>
              <a:rPr lang="en-US" altLang="ko-KR" sz="4800" dirty="0"/>
              <a:t>b</a:t>
            </a:r>
            <a:r>
              <a:rPr lang="ko-KR" altLang="en-US" sz="4800" dirty="0"/>
              <a:t> </a:t>
            </a:r>
            <a:r>
              <a:rPr lang="en-US" altLang="ko-KR" sz="4800" dirty="0"/>
              <a:t>=</a:t>
            </a:r>
            <a:r>
              <a:rPr lang="ko-KR" altLang="en-US" sz="4800" dirty="0"/>
              <a:t> </a:t>
            </a:r>
            <a:r>
              <a:rPr lang="en-US" altLang="ko-KR" sz="4800" dirty="0"/>
              <a:t>‘A’</a:t>
            </a:r>
            <a:endParaRPr lang="ko-KR" altLang="en-US" sz="4800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E0ABBBA2-6AC1-4DA7-9804-06EF55241DFC}"/>
              </a:ext>
            </a:extLst>
          </p:cNvPr>
          <p:cNvCxnSpPr/>
          <p:nvPr/>
        </p:nvCxnSpPr>
        <p:spPr>
          <a:xfrm flipV="1">
            <a:off x="1852612" y="4340661"/>
            <a:ext cx="371475" cy="6191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3662442-3E87-46B2-BC5E-B206E94B212E}"/>
              </a:ext>
            </a:extLst>
          </p:cNvPr>
          <p:cNvSpPr txBox="1"/>
          <p:nvPr/>
        </p:nvSpPr>
        <p:spPr>
          <a:xfrm>
            <a:off x="1104899" y="5247678"/>
            <a:ext cx="2238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 자료형 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EC96EC85-9F05-4597-A69D-70871378C36D}"/>
              </a:ext>
            </a:extLst>
          </p:cNvPr>
          <p:cNvCxnSpPr>
            <a:cxnSpLocks/>
          </p:cNvCxnSpPr>
          <p:nvPr/>
        </p:nvCxnSpPr>
        <p:spPr>
          <a:xfrm flipH="1" flipV="1">
            <a:off x="3314700" y="4252615"/>
            <a:ext cx="419100" cy="8000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E3A55F7-0B0C-455A-A8EC-7773E052BF0B}"/>
              </a:ext>
            </a:extLst>
          </p:cNvPr>
          <p:cNvSpPr txBox="1"/>
          <p:nvPr/>
        </p:nvSpPr>
        <p:spPr>
          <a:xfrm>
            <a:off x="3121818" y="5262085"/>
            <a:ext cx="4231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변수명</a:t>
            </a:r>
            <a:r>
              <a:rPr lang="en-US" altLang="ko-KR" dirty="0"/>
              <a:t>(</a:t>
            </a:r>
            <a:r>
              <a:rPr lang="ko-KR" altLang="en-US" dirty="0"/>
              <a:t>데이터를 저장할 상자</a:t>
            </a:r>
            <a:r>
              <a:rPr lang="en-US" altLang="ko-KR" dirty="0"/>
              <a:t>(</a:t>
            </a:r>
            <a:r>
              <a:rPr lang="ko-KR" altLang="en-US" dirty="0"/>
              <a:t>공간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24C78C86-E86D-4BC2-A374-063D7BDCB260}"/>
              </a:ext>
            </a:extLst>
          </p:cNvPr>
          <p:cNvCxnSpPr>
            <a:cxnSpLocks/>
          </p:cNvCxnSpPr>
          <p:nvPr/>
        </p:nvCxnSpPr>
        <p:spPr>
          <a:xfrm flipH="1" flipV="1">
            <a:off x="5276850" y="4355068"/>
            <a:ext cx="3042047" cy="87534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1FD1592-3AD4-42E9-B596-6289D67D00A1}"/>
              </a:ext>
            </a:extLst>
          </p:cNvPr>
          <p:cNvSpPr txBox="1"/>
          <p:nvPr/>
        </p:nvSpPr>
        <p:spPr>
          <a:xfrm>
            <a:off x="7475935" y="5383768"/>
            <a:ext cx="1594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</a:t>
            </a:r>
            <a:r>
              <a:rPr lang="en-US" altLang="ko-KR" dirty="0"/>
              <a:t>(</a:t>
            </a:r>
            <a:r>
              <a:rPr lang="ko-KR" altLang="en-US" dirty="0"/>
              <a:t>값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9E5D24-D494-4FC3-A45A-0BF9F81F799F}"/>
              </a:ext>
            </a:extLst>
          </p:cNvPr>
          <p:cNvSpPr txBox="1"/>
          <p:nvPr/>
        </p:nvSpPr>
        <p:spPr>
          <a:xfrm>
            <a:off x="7157144" y="281285"/>
            <a:ext cx="2602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정수는 </a:t>
            </a:r>
            <a:r>
              <a:rPr lang="en-US" altLang="ko-KR" dirty="0"/>
              <a:t>4 byte 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FB8BFC-0F41-4763-9157-AAA5FCBAAB4C}"/>
              </a:ext>
            </a:extLst>
          </p:cNvPr>
          <p:cNvSpPr txBox="1"/>
          <p:nvPr/>
        </p:nvSpPr>
        <p:spPr>
          <a:xfrm>
            <a:off x="8848728" y="5262085"/>
            <a:ext cx="2602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문자는 </a:t>
            </a:r>
            <a:r>
              <a:rPr lang="en-US" altLang="ko-KR" dirty="0"/>
              <a:t>1 byte 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DE14FD-E9E3-4E29-8B56-33F824D5E449}"/>
              </a:ext>
            </a:extLst>
          </p:cNvPr>
          <p:cNvSpPr txBox="1"/>
          <p:nvPr/>
        </p:nvSpPr>
        <p:spPr>
          <a:xfrm>
            <a:off x="6989853" y="759101"/>
            <a:ext cx="4743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00000000 00000000 00000000 00011110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4594F7AE-6F2C-4A25-8525-3FC414CD52E9}"/>
              </a:ext>
            </a:extLst>
          </p:cNvPr>
          <p:cNvCxnSpPr>
            <a:endCxn id="25" idx="1"/>
          </p:cNvCxnSpPr>
          <p:nvPr/>
        </p:nvCxnSpPr>
        <p:spPr>
          <a:xfrm flipV="1">
            <a:off x="5386082" y="943767"/>
            <a:ext cx="1603771" cy="551585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79E535A-FD8F-4BC1-8EAB-3BFD84670D20}"/>
              </a:ext>
            </a:extLst>
          </p:cNvPr>
          <p:cNvSpPr txBox="1"/>
          <p:nvPr/>
        </p:nvSpPr>
        <p:spPr>
          <a:xfrm>
            <a:off x="5529263" y="1317931"/>
            <a:ext cx="64198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10</a:t>
            </a:r>
            <a:r>
              <a:rPr lang="ko-KR" altLang="en-US" sz="1600" dirty="0"/>
              <a:t>진수를 </a:t>
            </a:r>
            <a:r>
              <a:rPr lang="en-US" altLang="ko-KR" sz="1600" dirty="0"/>
              <a:t>2</a:t>
            </a:r>
            <a:r>
              <a:rPr lang="ko-KR" altLang="en-US" sz="1600" dirty="0"/>
              <a:t>진수로 변환</a:t>
            </a:r>
          </a:p>
        </p:txBody>
      </p:sp>
    </p:spTree>
    <p:extLst>
      <p:ext uri="{BB962C8B-B14F-4D97-AF65-F5344CB8AC3E}">
        <p14:creationId xmlns:p14="http://schemas.microsoft.com/office/powerpoint/2010/main" val="3866094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6EAB41-B499-474E-B9F9-9CA2347240DF}"/>
              </a:ext>
            </a:extLst>
          </p:cNvPr>
          <p:cNvSpPr txBox="1"/>
          <p:nvPr/>
        </p:nvSpPr>
        <p:spPr>
          <a:xfrm>
            <a:off x="2133600" y="1104900"/>
            <a:ext cx="6419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/>
              <a:t>int</a:t>
            </a:r>
            <a:r>
              <a:rPr lang="ko-KR" altLang="en-US" sz="4800"/>
              <a:t> </a:t>
            </a:r>
            <a:r>
              <a:rPr lang="en-US" altLang="ko-KR" sz="4800"/>
              <a:t>a</a:t>
            </a:r>
            <a:r>
              <a:rPr lang="ko-KR" altLang="en-US" sz="4800"/>
              <a:t> </a:t>
            </a:r>
            <a:r>
              <a:rPr lang="en-US" altLang="ko-KR" sz="4800"/>
              <a:t>=</a:t>
            </a:r>
            <a:r>
              <a:rPr lang="ko-KR" altLang="en-US" sz="4800"/>
              <a:t> </a:t>
            </a:r>
            <a:r>
              <a:rPr lang="en-US" altLang="ko-KR" sz="4800"/>
              <a:t>30</a:t>
            </a:r>
            <a:endParaRPr lang="ko-KR" altLang="en-US" sz="4800" dirty="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57E45E7-B558-4DBE-B55A-6EC2EFD5F074}"/>
              </a:ext>
            </a:extLst>
          </p:cNvPr>
          <p:cNvCxnSpPr/>
          <p:nvPr/>
        </p:nvCxnSpPr>
        <p:spPr>
          <a:xfrm flipV="1">
            <a:off x="1947862" y="1935897"/>
            <a:ext cx="371475" cy="6191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B590D6C-4A0C-4D53-A311-21B711C83C0F}"/>
              </a:ext>
            </a:extLst>
          </p:cNvPr>
          <p:cNvSpPr txBox="1"/>
          <p:nvPr/>
        </p:nvSpPr>
        <p:spPr>
          <a:xfrm>
            <a:off x="1200149" y="2842914"/>
            <a:ext cx="2238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 자료형 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9E3630D-E705-469D-B505-CB7954F4E351}"/>
              </a:ext>
            </a:extLst>
          </p:cNvPr>
          <p:cNvCxnSpPr>
            <a:cxnSpLocks/>
          </p:cNvCxnSpPr>
          <p:nvPr/>
        </p:nvCxnSpPr>
        <p:spPr>
          <a:xfrm flipH="1" flipV="1">
            <a:off x="3409950" y="1847851"/>
            <a:ext cx="419100" cy="8000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301571D-93AA-4E82-9DA8-03FC468558A0}"/>
              </a:ext>
            </a:extLst>
          </p:cNvPr>
          <p:cNvSpPr txBox="1"/>
          <p:nvPr/>
        </p:nvSpPr>
        <p:spPr>
          <a:xfrm>
            <a:off x="3217068" y="2857321"/>
            <a:ext cx="4231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변수명</a:t>
            </a:r>
            <a:r>
              <a:rPr lang="en-US" altLang="ko-KR" dirty="0"/>
              <a:t>(</a:t>
            </a:r>
            <a:r>
              <a:rPr lang="ko-KR" altLang="en-US" dirty="0"/>
              <a:t>데이터를 저장할 상자</a:t>
            </a:r>
            <a:r>
              <a:rPr lang="en-US" altLang="ko-KR" dirty="0"/>
              <a:t>(</a:t>
            </a:r>
            <a:r>
              <a:rPr lang="ko-KR" altLang="en-US" dirty="0"/>
              <a:t>공간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9C5DB75-F3E2-4ABE-9FFF-A7B1EFFBCD1A}"/>
              </a:ext>
            </a:extLst>
          </p:cNvPr>
          <p:cNvCxnSpPr>
            <a:cxnSpLocks/>
          </p:cNvCxnSpPr>
          <p:nvPr/>
        </p:nvCxnSpPr>
        <p:spPr>
          <a:xfrm flipH="1" flipV="1">
            <a:off x="4919663" y="1772604"/>
            <a:ext cx="3042047" cy="87534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B1D8339-26BE-4245-9CE0-693EDFFA2C5D}"/>
              </a:ext>
            </a:extLst>
          </p:cNvPr>
          <p:cNvSpPr txBox="1"/>
          <p:nvPr/>
        </p:nvSpPr>
        <p:spPr>
          <a:xfrm>
            <a:off x="7448550" y="2738051"/>
            <a:ext cx="1594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</a:t>
            </a:r>
            <a:r>
              <a:rPr lang="en-US" altLang="ko-KR" dirty="0"/>
              <a:t>(</a:t>
            </a:r>
            <a:r>
              <a:rPr lang="ko-KR" altLang="en-US" dirty="0"/>
              <a:t>값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F13838-C9BA-44F8-A09E-400AD691D0A9}"/>
              </a:ext>
            </a:extLst>
          </p:cNvPr>
          <p:cNvSpPr txBox="1"/>
          <p:nvPr/>
        </p:nvSpPr>
        <p:spPr>
          <a:xfrm>
            <a:off x="2038350" y="3509664"/>
            <a:ext cx="6419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/>
              <a:t>Char</a:t>
            </a:r>
            <a:r>
              <a:rPr lang="ko-KR" altLang="en-US" sz="4800" dirty="0"/>
              <a:t> </a:t>
            </a:r>
            <a:r>
              <a:rPr lang="en-US" altLang="ko-KR" sz="4800" dirty="0"/>
              <a:t>b</a:t>
            </a:r>
            <a:r>
              <a:rPr lang="ko-KR" altLang="en-US" sz="4800" dirty="0"/>
              <a:t> </a:t>
            </a:r>
            <a:r>
              <a:rPr lang="en-US" altLang="ko-KR" sz="4800" dirty="0"/>
              <a:t>=</a:t>
            </a:r>
            <a:r>
              <a:rPr lang="ko-KR" altLang="en-US" sz="4800" dirty="0"/>
              <a:t> </a:t>
            </a:r>
            <a:r>
              <a:rPr lang="en-US" altLang="ko-KR" sz="4800" dirty="0"/>
              <a:t>‘A’</a:t>
            </a:r>
            <a:endParaRPr lang="ko-KR" altLang="en-US" sz="4800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E0ABBBA2-6AC1-4DA7-9804-06EF55241DFC}"/>
              </a:ext>
            </a:extLst>
          </p:cNvPr>
          <p:cNvCxnSpPr/>
          <p:nvPr/>
        </p:nvCxnSpPr>
        <p:spPr>
          <a:xfrm flipV="1">
            <a:off x="1852612" y="4340661"/>
            <a:ext cx="371475" cy="6191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3662442-3E87-46B2-BC5E-B206E94B212E}"/>
              </a:ext>
            </a:extLst>
          </p:cNvPr>
          <p:cNvSpPr txBox="1"/>
          <p:nvPr/>
        </p:nvSpPr>
        <p:spPr>
          <a:xfrm>
            <a:off x="1104899" y="5247678"/>
            <a:ext cx="2238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 자료형 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EC96EC85-9F05-4597-A69D-70871378C36D}"/>
              </a:ext>
            </a:extLst>
          </p:cNvPr>
          <p:cNvCxnSpPr>
            <a:cxnSpLocks/>
          </p:cNvCxnSpPr>
          <p:nvPr/>
        </p:nvCxnSpPr>
        <p:spPr>
          <a:xfrm flipH="1" flipV="1">
            <a:off x="3314700" y="4252615"/>
            <a:ext cx="419100" cy="8000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E3A55F7-0B0C-455A-A8EC-7773E052BF0B}"/>
              </a:ext>
            </a:extLst>
          </p:cNvPr>
          <p:cNvSpPr txBox="1"/>
          <p:nvPr/>
        </p:nvSpPr>
        <p:spPr>
          <a:xfrm>
            <a:off x="3121818" y="5262085"/>
            <a:ext cx="4231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변수명</a:t>
            </a:r>
            <a:r>
              <a:rPr lang="en-US" altLang="ko-KR" dirty="0"/>
              <a:t>(</a:t>
            </a:r>
            <a:r>
              <a:rPr lang="ko-KR" altLang="en-US" dirty="0"/>
              <a:t>데이터를 저장할 상자</a:t>
            </a:r>
            <a:r>
              <a:rPr lang="en-US" altLang="ko-KR" dirty="0"/>
              <a:t>(</a:t>
            </a:r>
            <a:r>
              <a:rPr lang="ko-KR" altLang="en-US" dirty="0"/>
              <a:t>공간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24C78C86-E86D-4BC2-A374-063D7BDCB260}"/>
              </a:ext>
            </a:extLst>
          </p:cNvPr>
          <p:cNvCxnSpPr>
            <a:cxnSpLocks/>
          </p:cNvCxnSpPr>
          <p:nvPr/>
        </p:nvCxnSpPr>
        <p:spPr>
          <a:xfrm flipH="1" flipV="1">
            <a:off x="5276850" y="4355068"/>
            <a:ext cx="3042047" cy="87534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1FD1592-3AD4-42E9-B596-6289D67D00A1}"/>
              </a:ext>
            </a:extLst>
          </p:cNvPr>
          <p:cNvSpPr txBox="1"/>
          <p:nvPr/>
        </p:nvSpPr>
        <p:spPr>
          <a:xfrm>
            <a:off x="7475935" y="5383768"/>
            <a:ext cx="1594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</a:t>
            </a:r>
            <a:r>
              <a:rPr lang="en-US" altLang="ko-KR" dirty="0"/>
              <a:t>(</a:t>
            </a:r>
            <a:r>
              <a:rPr lang="ko-KR" altLang="en-US" dirty="0"/>
              <a:t>값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9E5D24-D494-4FC3-A45A-0BF9F81F799F}"/>
              </a:ext>
            </a:extLst>
          </p:cNvPr>
          <p:cNvSpPr txBox="1"/>
          <p:nvPr/>
        </p:nvSpPr>
        <p:spPr>
          <a:xfrm>
            <a:off x="7157144" y="281285"/>
            <a:ext cx="2602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정수는 </a:t>
            </a:r>
            <a:r>
              <a:rPr lang="en-US" altLang="ko-KR" dirty="0"/>
              <a:t>4 byte 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FB8BFC-0F41-4763-9157-AAA5FCBAAB4C}"/>
              </a:ext>
            </a:extLst>
          </p:cNvPr>
          <p:cNvSpPr txBox="1"/>
          <p:nvPr/>
        </p:nvSpPr>
        <p:spPr>
          <a:xfrm>
            <a:off x="8848728" y="5262085"/>
            <a:ext cx="2602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문자는 </a:t>
            </a:r>
            <a:r>
              <a:rPr lang="en-US" altLang="ko-KR" dirty="0"/>
              <a:t>1 byte 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DE14FD-E9E3-4E29-8B56-33F824D5E449}"/>
              </a:ext>
            </a:extLst>
          </p:cNvPr>
          <p:cNvSpPr txBox="1"/>
          <p:nvPr/>
        </p:nvSpPr>
        <p:spPr>
          <a:xfrm>
            <a:off x="6989853" y="759101"/>
            <a:ext cx="4743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00000000 00000000 00000000 00011110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4594F7AE-6F2C-4A25-8525-3FC414CD52E9}"/>
              </a:ext>
            </a:extLst>
          </p:cNvPr>
          <p:cNvCxnSpPr>
            <a:endCxn id="25" idx="1"/>
          </p:cNvCxnSpPr>
          <p:nvPr/>
        </p:nvCxnSpPr>
        <p:spPr>
          <a:xfrm flipV="1">
            <a:off x="5386082" y="943767"/>
            <a:ext cx="1603771" cy="551585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79E535A-FD8F-4BC1-8EAB-3BFD84670D20}"/>
              </a:ext>
            </a:extLst>
          </p:cNvPr>
          <p:cNvSpPr txBox="1"/>
          <p:nvPr/>
        </p:nvSpPr>
        <p:spPr>
          <a:xfrm>
            <a:off x="5529263" y="1317931"/>
            <a:ext cx="64198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10</a:t>
            </a:r>
            <a:r>
              <a:rPr lang="ko-KR" altLang="en-US" sz="1600" dirty="0"/>
              <a:t>진수를 </a:t>
            </a:r>
            <a:r>
              <a:rPr lang="en-US" altLang="ko-KR" sz="1600" dirty="0"/>
              <a:t>2</a:t>
            </a:r>
            <a:r>
              <a:rPr lang="ko-KR" altLang="en-US" sz="1600" dirty="0"/>
              <a:t>진수로 변환</a:t>
            </a:r>
          </a:p>
        </p:txBody>
      </p:sp>
    </p:spTree>
    <p:extLst>
      <p:ext uri="{BB962C8B-B14F-4D97-AF65-F5344CB8AC3E}">
        <p14:creationId xmlns:p14="http://schemas.microsoft.com/office/powerpoint/2010/main" val="388192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6EAB41-B499-474E-B9F9-9CA2347240DF}"/>
              </a:ext>
            </a:extLst>
          </p:cNvPr>
          <p:cNvSpPr txBox="1"/>
          <p:nvPr/>
        </p:nvSpPr>
        <p:spPr>
          <a:xfrm>
            <a:off x="2133600" y="1104900"/>
            <a:ext cx="6419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/>
              <a:t>int</a:t>
            </a:r>
            <a:r>
              <a:rPr lang="ko-KR" altLang="en-US" sz="4800"/>
              <a:t> </a:t>
            </a:r>
            <a:r>
              <a:rPr lang="en-US" altLang="ko-KR" sz="4800"/>
              <a:t>a</a:t>
            </a:r>
            <a:r>
              <a:rPr lang="ko-KR" altLang="en-US" sz="4800"/>
              <a:t> </a:t>
            </a:r>
            <a:r>
              <a:rPr lang="en-US" altLang="ko-KR" sz="4800"/>
              <a:t>=</a:t>
            </a:r>
            <a:r>
              <a:rPr lang="ko-KR" altLang="en-US" sz="4800"/>
              <a:t> </a:t>
            </a:r>
            <a:r>
              <a:rPr lang="en-US" altLang="ko-KR" sz="4800"/>
              <a:t>30</a:t>
            </a:r>
            <a:endParaRPr lang="ko-KR" altLang="en-US" sz="4800" dirty="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57E45E7-B558-4DBE-B55A-6EC2EFD5F074}"/>
              </a:ext>
            </a:extLst>
          </p:cNvPr>
          <p:cNvCxnSpPr/>
          <p:nvPr/>
        </p:nvCxnSpPr>
        <p:spPr>
          <a:xfrm flipV="1">
            <a:off x="1947862" y="1935897"/>
            <a:ext cx="371475" cy="6191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B590D6C-4A0C-4D53-A311-21B711C83C0F}"/>
              </a:ext>
            </a:extLst>
          </p:cNvPr>
          <p:cNvSpPr txBox="1"/>
          <p:nvPr/>
        </p:nvSpPr>
        <p:spPr>
          <a:xfrm>
            <a:off x="1200149" y="2842914"/>
            <a:ext cx="2238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 자료형 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9E3630D-E705-469D-B505-CB7954F4E351}"/>
              </a:ext>
            </a:extLst>
          </p:cNvPr>
          <p:cNvCxnSpPr>
            <a:cxnSpLocks/>
          </p:cNvCxnSpPr>
          <p:nvPr/>
        </p:nvCxnSpPr>
        <p:spPr>
          <a:xfrm flipH="1" flipV="1">
            <a:off x="3409950" y="1847851"/>
            <a:ext cx="419100" cy="8000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301571D-93AA-4E82-9DA8-03FC468558A0}"/>
              </a:ext>
            </a:extLst>
          </p:cNvPr>
          <p:cNvSpPr txBox="1"/>
          <p:nvPr/>
        </p:nvSpPr>
        <p:spPr>
          <a:xfrm>
            <a:off x="3217068" y="2857321"/>
            <a:ext cx="4231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변수명</a:t>
            </a:r>
            <a:r>
              <a:rPr lang="en-US" altLang="ko-KR" dirty="0"/>
              <a:t>(</a:t>
            </a:r>
            <a:r>
              <a:rPr lang="ko-KR" altLang="en-US" dirty="0"/>
              <a:t>데이터를 저장할 상자</a:t>
            </a:r>
            <a:r>
              <a:rPr lang="en-US" altLang="ko-KR" dirty="0"/>
              <a:t>(</a:t>
            </a:r>
            <a:r>
              <a:rPr lang="ko-KR" altLang="en-US" dirty="0"/>
              <a:t>공간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9C5DB75-F3E2-4ABE-9FFF-A7B1EFFBCD1A}"/>
              </a:ext>
            </a:extLst>
          </p:cNvPr>
          <p:cNvCxnSpPr>
            <a:cxnSpLocks/>
          </p:cNvCxnSpPr>
          <p:nvPr/>
        </p:nvCxnSpPr>
        <p:spPr>
          <a:xfrm flipH="1" flipV="1">
            <a:off x="4919663" y="1772604"/>
            <a:ext cx="3042047" cy="87534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B1D8339-26BE-4245-9CE0-693EDFFA2C5D}"/>
              </a:ext>
            </a:extLst>
          </p:cNvPr>
          <p:cNvSpPr txBox="1"/>
          <p:nvPr/>
        </p:nvSpPr>
        <p:spPr>
          <a:xfrm>
            <a:off x="7448550" y="2738051"/>
            <a:ext cx="1594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</a:t>
            </a:r>
            <a:r>
              <a:rPr lang="en-US" altLang="ko-KR" dirty="0"/>
              <a:t>(</a:t>
            </a:r>
            <a:r>
              <a:rPr lang="ko-KR" altLang="en-US" dirty="0"/>
              <a:t>값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F13838-C9BA-44F8-A09E-400AD691D0A9}"/>
              </a:ext>
            </a:extLst>
          </p:cNvPr>
          <p:cNvSpPr txBox="1"/>
          <p:nvPr/>
        </p:nvSpPr>
        <p:spPr>
          <a:xfrm>
            <a:off x="2038350" y="3509664"/>
            <a:ext cx="6419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/>
              <a:t>Char</a:t>
            </a:r>
            <a:r>
              <a:rPr lang="ko-KR" altLang="en-US" sz="4800" dirty="0"/>
              <a:t> </a:t>
            </a:r>
            <a:r>
              <a:rPr lang="en-US" altLang="ko-KR" sz="4800" dirty="0"/>
              <a:t>b</a:t>
            </a:r>
            <a:r>
              <a:rPr lang="ko-KR" altLang="en-US" sz="4800" dirty="0"/>
              <a:t> </a:t>
            </a:r>
            <a:r>
              <a:rPr lang="en-US" altLang="ko-KR" sz="4800" dirty="0"/>
              <a:t>=</a:t>
            </a:r>
            <a:r>
              <a:rPr lang="ko-KR" altLang="en-US" sz="4800" dirty="0"/>
              <a:t> </a:t>
            </a:r>
            <a:r>
              <a:rPr lang="en-US" altLang="ko-KR" sz="4800" dirty="0"/>
              <a:t>‘A’</a:t>
            </a:r>
            <a:endParaRPr lang="ko-KR" altLang="en-US" sz="4800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E0ABBBA2-6AC1-4DA7-9804-06EF55241DFC}"/>
              </a:ext>
            </a:extLst>
          </p:cNvPr>
          <p:cNvCxnSpPr/>
          <p:nvPr/>
        </p:nvCxnSpPr>
        <p:spPr>
          <a:xfrm flipV="1">
            <a:off x="1852612" y="4340661"/>
            <a:ext cx="371475" cy="6191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3662442-3E87-46B2-BC5E-B206E94B212E}"/>
              </a:ext>
            </a:extLst>
          </p:cNvPr>
          <p:cNvSpPr txBox="1"/>
          <p:nvPr/>
        </p:nvSpPr>
        <p:spPr>
          <a:xfrm>
            <a:off x="1104899" y="5247678"/>
            <a:ext cx="2238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 자료형 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EC96EC85-9F05-4597-A69D-70871378C36D}"/>
              </a:ext>
            </a:extLst>
          </p:cNvPr>
          <p:cNvCxnSpPr>
            <a:cxnSpLocks/>
          </p:cNvCxnSpPr>
          <p:nvPr/>
        </p:nvCxnSpPr>
        <p:spPr>
          <a:xfrm flipH="1" flipV="1">
            <a:off x="3314700" y="4252615"/>
            <a:ext cx="419100" cy="8000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E3A55F7-0B0C-455A-A8EC-7773E052BF0B}"/>
              </a:ext>
            </a:extLst>
          </p:cNvPr>
          <p:cNvSpPr txBox="1"/>
          <p:nvPr/>
        </p:nvSpPr>
        <p:spPr>
          <a:xfrm>
            <a:off x="3121818" y="5262085"/>
            <a:ext cx="4231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변수명</a:t>
            </a:r>
            <a:r>
              <a:rPr lang="en-US" altLang="ko-KR" dirty="0"/>
              <a:t>(</a:t>
            </a:r>
            <a:r>
              <a:rPr lang="ko-KR" altLang="en-US" dirty="0"/>
              <a:t>데이터를 저장할 상자</a:t>
            </a:r>
            <a:r>
              <a:rPr lang="en-US" altLang="ko-KR" dirty="0"/>
              <a:t>(</a:t>
            </a:r>
            <a:r>
              <a:rPr lang="ko-KR" altLang="en-US" dirty="0"/>
              <a:t>공간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24C78C86-E86D-4BC2-A374-063D7BDCB260}"/>
              </a:ext>
            </a:extLst>
          </p:cNvPr>
          <p:cNvCxnSpPr>
            <a:cxnSpLocks/>
          </p:cNvCxnSpPr>
          <p:nvPr/>
        </p:nvCxnSpPr>
        <p:spPr>
          <a:xfrm flipH="1" flipV="1">
            <a:off x="5276850" y="4355068"/>
            <a:ext cx="3042047" cy="87534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1FD1592-3AD4-42E9-B596-6289D67D00A1}"/>
              </a:ext>
            </a:extLst>
          </p:cNvPr>
          <p:cNvSpPr txBox="1"/>
          <p:nvPr/>
        </p:nvSpPr>
        <p:spPr>
          <a:xfrm>
            <a:off x="7475935" y="5383768"/>
            <a:ext cx="1594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</a:t>
            </a:r>
            <a:r>
              <a:rPr lang="en-US" altLang="ko-KR" dirty="0"/>
              <a:t>(</a:t>
            </a:r>
            <a:r>
              <a:rPr lang="ko-KR" altLang="en-US" dirty="0"/>
              <a:t>값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9E5D24-D494-4FC3-A45A-0BF9F81F799F}"/>
              </a:ext>
            </a:extLst>
          </p:cNvPr>
          <p:cNvSpPr txBox="1"/>
          <p:nvPr/>
        </p:nvSpPr>
        <p:spPr>
          <a:xfrm>
            <a:off x="7157144" y="281285"/>
            <a:ext cx="2602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정수는 </a:t>
            </a:r>
            <a:r>
              <a:rPr lang="en-US" altLang="ko-KR" dirty="0"/>
              <a:t>4 byte 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FB8BFC-0F41-4763-9157-AAA5FCBAAB4C}"/>
              </a:ext>
            </a:extLst>
          </p:cNvPr>
          <p:cNvSpPr txBox="1"/>
          <p:nvPr/>
        </p:nvSpPr>
        <p:spPr>
          <a:xfrm>
            <a:off x="8848728" y="5262085"/>
            <a:ext cx="2602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문자는 </a:t>
            </a:r>
            <a:r>
              <a:rPr lang="en-US" altLang="ko-KR" dirty="0"/>
              <a:t>1 byte 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DE14FD-E9E3-4E29-8B56-33F824D5E449}"/>
              </a:ext>
            </a:extLst>
          </p:cNvPr>
          <p:cNvSpPr txBox="1"/>
          <p:nvPr/>
        </p:nvSpPr>
        <p:spPr>
          <a:xfrm>
            <a:off x="6989853" y="759101"/>
            <a:ext cx="4743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00000000 00000000 00000000 00011110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4594F7AE-6F2C-4A25-8525-3FC414CD52E9}"/>
              </a:ext>
            </a:extLst>
          </p:cNvPr>
          <p:cNvCxnSpPr>
            <a:endCxn id="25" idx="1"/>
          </p:cNvCxnSpPr>
          <p:nvPr/>
        </p:nvCxnSpPr>
        <p:spPr>
          <a:xfrm flipV="1">
            <a:off x="5386082" y="943767"/>
            <a:ext cx="1603771" cy="551585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79E535A-FD8F-4BC1-8EAB-3BFD84670D20}"/>
              </a:ext>
            </a:extLst>
          </p:cNvPr>
          <p:cNvSpPr txBox="1"/>
          <p:nvPr/>
        </p:nvSpPr>
        <p:spPr>
          <a:xfrm>
            <a:off x="5529263" y="1317931"/>
            <a:ext cx="64198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10</a:t>
            </a:r>
            <a:r>
              <a:rPr lang="ko-KR" altLang="en-US" sz="1600" dirty="0"/>
              <a:t>진수를 </a:t>
            </a:r>
            <a:r>
              <a:rPr lang="en-US" altLang="ko-KR" sz="1600" dirty="0"/>
              <a:t>2</a:t>
            </a:r>
            <a:r>
              <a:rPr lang="ko-KR" altLang="en-US" sz="1600" dirty="0"/>
              <a:t>진수로 변환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9E39F7-0831-432A-93DB-E3ECF71B9CD1}"/>
              </a:ext>
            </a:extLst>
          </p:cNvPr>
          <p:cNvSpPr txBox="1"/>
          <p:nvPr/>
        </p:nvSpPr>
        <p:spPr>
          <a:xfrm>
            <a:off x="9361578" y="4679883"/>
            <a:ext cx="18723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01000001</a:t>
            </a: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6E3BC3B2-C5D9-4D62-9B59-9AE328CC59C7}"/>
              </a:ext>
            </a:extLst>
          </p:cNvPr>
          <p:cNvCxnSpPr>
            <a:cxnSpLocks/>
          </p:cNvCxnSpPr>
          <p:nvPr/>
        </p:nvCxnSpPr>
        <p:spPr>
          <a:xfrm>
            <a:off x="5529263" y="4151831"/>
            <a:ext cx="3757350" cy="712718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5FF6B1D-444D-4EFE-9076-627D2B530E5F}"/>
              </a:ext>
            </a:extLst>
          </p:cNvPr>
          <p:cNvSpPr txBox="1"/>
          <p:nvPr/>
        </p:nvSpPr>
        <p:spPr>
          <a:xfrm>
            <a:off x="6797873" y="4118669"/>
            <a:ext cx="24887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10</a:t>
            </a:r>
            <a:r>
              <a:rPr lang="ko-KR" altLang="en-US" sz="1600" dirty="0"/>
              <a:t>진수를 </a:t>
            </a:r>
            <a:r>
              <a:rPr lang="en-US" altLang="ko-KR" sz="1600" dirty="0"/>
              <a:t>2</a:t>
            </a:r>
            <a:r>
              <a:rPr lang="ko-KR" altLang="en-US" sz="1600" dirty="0"/>
              <a:t>진수로 변환</a:t>
            </a:r>
          </a:p>
        </p:txBody>
      </p:sp>
    </p:spTree>
    <p:extLst>
      <p:ext uri="{BB962C8B-B14F-4D97-AF65-F5344CB8AC3E}">
        <p14:creationId xmlns:p14="http://schemas.microsoft.com/office/powerpoint/2010/main" val="3782037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209</Words>
  <Application>Microsoft Office PowerPoint</Application>
  <PresentationFormat>와이드스크린</PresentationFormat>
  <Paragraphs>48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Administrator</cp:lastModifiedBy>
  <cp:revision>1</cp:revision>
  <dcterms:created xsi:type="dcterms:W3CDTF">2025-05-08T23:17:00Z</dcterms:created>
  <dcterms:modified xsi:type="dcterms:W3CDTF">2025-05-08T23:26:34Z</dcterms:modified>
</cp:coreProperties>
</file>