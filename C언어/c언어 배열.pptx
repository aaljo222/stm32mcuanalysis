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60" r:id="rId4"/>
    <p:sldId id="265" r:id="rId5"/>
    <p:sldId id="266" r:id="rId6"/>
    <p:sldId id="261" r:id="rId7"/>
    <p:sldId id="262" r:id="rId8"/>
    <p:sldId id="263" r:id="rId9"/>
    <p:sldId id="264" r:id="rId10"/>
    <p:sldId id="259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09D6B6-6AB5-23BD-02E9-51CC93A62F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55BE69D-F804-D412-D3B0-C4117A6440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1E7F08-6559-D17D-0719-9C87A2C3F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3E3CA-67EE-482A-A29F-661E39BEC931}" type="datetimeFigureOut">
              <a:rPr lang="ko-KR" altLang="en-US" smtClean="0"/>
              <a:t>2025-05-11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730269-3634-F30F-A7D0-7B7207D28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E631A0-13DF-91F3-CBC4-89FBBDDD3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9F618-288B-4BE2-9D6E-8FCC5FD906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0300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E56DFF-77E0-3645-772A-DE749408A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1D765B-27BE-1335-A52A-A4AB0EB22B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93EDFE-87FC-CBF3-9DB2-2D0D23CA4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3E3CA-67EE-482A-A29F-661E39BEC931}" type="datetimeFigureOut">
              <a:rPr lang="ko-KR" altLang="en-US" smtClean="0"/>
              <a:t>2025-05-11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D67963-CFB4-6843-9933-630360D1D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A3EAD6-907B-37B6-8515-1C16A7659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9F618-288B-4BE2-9D6E-8FCC5FD906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5238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B78EB3-B3E6-460E-0B3D-CB56133A6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7E53DEB-3D87-D6D7-067F-CED12FB74A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2B6F72-697B-7DB0-2D62-95DF2C6C2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3E3CA-67EE-482A-A29F-661E39BEC931}" type="datetimeFigureOut">
              <a:rPr lang="ko-KR" altLang="en-US" smtClean="0"/>
              <a:t>2025-05-11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7972D2-92F5-4003-E8F3-1AE61971F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6BDA12-AD48-A915-CC04-7FF81B32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9F618-288B-4BE2-9D6E-8FCC5FD906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9453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DF3E1B-9EC6-C873-335A-C87926AE4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6DA5FA-551B-91FF-DCCE-B91C50BEF9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FF154B9-AF3E-7116-4010-045BAE8D3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6A469F-76AA-460E-DF8D-4C798F784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3E3CA-67EE-482A-A29F-661E39BEC931}" type="datetimeFigureOut">
              <a:rPr lang="ko-KR" altLang="en-US" smtClean="0"/>
              <a:t>2025-05-11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3CAE06A-7BB8-2BD6-BB01-D13D1FA51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A5FB743-F511-0571-4F04-455D71FF1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9F618-288B-4BE2-9D6E-8FCC5FD906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9438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710219-A89A-80A2-B3C5-8D96D2C75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0379FBA-258B-5706-0834-8F1D15B255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0DBBB80-3875-1768-BA29-140117E2A2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1782B40-52AC-31A1-4B6E-EAA84A7F4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80F1D20-AB3E-4600-61C1-4B57A076B6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E891441-5C32-A376-3917-07B384925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3E3CA-67EE-482A-A29F-661E39BEC931}" type="datetimeFigureOut">
              <a:rPr lang="ko-KR" altLang="en-US" smtClean="0"/>
              <a:t>2025-05-11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3D5147B-7AA2-B3DE-52B0-0F1A4AB85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C3976A6-639E-36A1-1F02-CB432B114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9F618-288B-4BE2-9D6E-8FCC5FD906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2067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C9A0D8-B2A1-EA2F-98A5-2C5098123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697B4A9-7072-A6C8-6CAE-CEF975804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3E3CA-67EE-482A-A29F-661E39BEC931}" type="datetimeFigureOut">
              <a:rPr lang="ko-KR" altLang="en-US" smtClean="0"/>
              <a:t>2025-05-11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2BA7FEB-0EE0-FCD8-9C93-073956933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4576D86-8D25-2671-F53F-AB3AD08D8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9F618-288B-4BE2-9D6E-8FCC5FD906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9297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1E11566-B116-89E2-A95A-ED8F6C5D8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3E3CA-67EE-482A-A29F-661E39BEC931}" type="datetimeFigureOut">
              <a:rPr lang="ko-KR" altLang="en-US" smtClean="0"/>
              <a:t>2025-05-11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78CD4A5-0E08-E7D6-05AA-D4F744D84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9B4350-9230-E841-1DBE-6418D7D92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9F618-288B-4BE2-9D6E-8FCC5FD906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1145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CF24C4-1497-59F0-9FBD-44A92867E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810DE8-520D-A99D-2AFD-A9B220C8CF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BAFA951-1AE5-2088-80F6-193D03FF62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2E4C1B1-7726-1C4F-5683-7074AC00E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3E3CA-67EE-482A-A29F-661E39BEC931}" type="datetimeFigureOut">
              <a:rPr lang="ko-KR" altLang="en-US" smtClean="0"/>
              <a:t>2025-05-11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49D027C-15B0-E2DB-0011-7741E392E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DED69CE-C992-1786-91AC-DA3C11FA2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9F618-288B-4BE2-9D6E-8FCC5FD906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0927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EA22AE-11CF-4D73-D40A-0B6A53E0B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E2EA817-3751-EC3B-5E92-F6E313C7E5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D48B93F-6814-DB94-50AA-21F803A4E6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C49FEE3-3383-5058-7F58-885EC15B8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3E3CA-67EE-482A-A29F-661E39BEC931}" type="datetimeFigureOut">
              <a:rPr lang="ko-KR" altLang="en-US" smtClean="0"/>
              <a:t>2025-05-11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ABD1C09-0ED0-98D7-B813-727D8D91D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33C14F7-85EC-A4BE-F58A-6E9775BF3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9F618-288B-4BE2-9D6E-8FCC5FD906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5829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2D832D-5BBE-DA01-AB75-9F47ABBCA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AC49870-00A0-7F71-A2A5-3DBF9339B4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D4F53A-98B6-97EB-8CEA-50532FA43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3E3CA-67EE-482A-A29F-661E39BEC931}" type="datetimeFigureOut">
              <a:rPr lang="ko-KR" altLang="en-US" smtClean="0"/>
              <a:t>2025-05-11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291A48-7ECE-2AE9-47E3-8C7A25018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B5C29A-3927-7C4B-8B3B-BB48009BF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9F618-288B-4BE2-9D6E-8FCC5FD906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752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D62CE3A-65DF-E788-BA47-D9D044CBA6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F94194A-68CE-8DDD-CA6D-9881F344C6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5E974A-7FA0-70A6-C74F-4EBCE16B6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3E3CA-67EE-482A-A29F-661E39BEC931}" type="datetimeFigureOut">
              <a:rPr lang="ko-KR" altLang="en-US" smtClean="0"/>
              <a:t>2025-05-11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C8FF79-F145-A4B9-9250-B41715464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72F5D4-319E-131C-DCE4-0FB40B1C1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9F618-288B-4BE2-9D6E-8FCC5FD906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3016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8BC5887-131E-D6FA-A91D-849A1394D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8FE3236-BF51-7929-64D7-A0DAE76EFA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98A930-51D2-12D1-412F-818D0674DB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93E3CA-67EE-482A-A29F-661E39BEC931}" type="datetimeFigureOut">
              <a:rPr lang="ko-KR" altLang="en-US" smtClean="0"/>
              <a:t>2025-05-11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9341AF-28E0-64AD-6B02-882FE4414F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D1A5CE-4FE7-91BB-F1E5-0F79605D65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B9F618-288B-4BE2-9D6E-8FCC5FD906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6340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2EAA539-355B-C3B1-3D9D-8007B9A92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4457"/>
            <a:ext cx="12192000" cy="5929086"/>
          </a:xfrm>
          <a:prstGeom prst="rect">
            <a:avLst/>
          </a:prstGeom>
        </p:spPr>
      </p:pic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708D94E-561F-2224-46C6-D83AFC9B8F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0806850"/>
              </p:ext>
            </p:extLst>
          </p:nvPr>
        </p:nvGraphicFramePr>
        <p:xfrm>
          <a:off x="720506" y="1942536"/>
          <a:ext cx="10515600" cy="73152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06700292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88474112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795499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solidFill>
                            <a:srgbClr val="00B0F0"/>
                          </a:solidFill>
                        </a:rPr>
                        <a:t>부호</a:t>
                      </a:r>
                      <a:r>
                        <a:rPr lang="en-US" altLang="ko-KR">
                          <a:solidFill>
                            <a:srgbClr val="00B0F0"/>
                          </a:solidFill>
                        </a:rPr>
                        <a:t>(</a:t>
                      </a:r>
                      <a:r>
                        <a:rPr lang="en-US">
                          <a:solidFill>
                            <a:srgbClr val="00B0F0"/>
                          </a:solidFill>
                        </a:rPr>
                        <a:t>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 err="1">
                          <a:solidFill>
                            <a:srgbClr val="00B0F0"/>
                          </a:solidFill>
                        </a:rPr>
                        <a:t>지수부</a:t>
                      </a:r>
                      <a:r>
                        <a:rPr lang="en-US" altLang="ko-KR" dirty="0">
                          <a:solidFill>
                            <a:srgbClr val="00B0F0"/>
                          </a:solidFill>
                        </a:rPr>
                        <a:t>(8</a:t>
                      </a:r>
                      <a:r>
                        <a:rPr lang="en-US" dirty="0">
                          <a:solidFill>
                            <a:srgbClr val="00B0F0"/>
                          </a:solidFill>
                        </a:rPr>
                        <a:t>bit)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solidFill>
                            <a:srgbClr val="00B0F0"/>
                          </a:solidFill>
                        </a:rPr>
                        <a:t>기수부</a:t>
                      </a:r>
                      <a:r>
                        <a:rPr lang="en-US" altLang="ko-KR">
                          <a:solidFill>
                            <a:srgbClr val="00B0F0"/>
                          </a:solidFill>
                        </a:rPr>
                        <a:t>(23</a:t>
                      </a:r>
                      <a:r>
                        <a:rPr lang="en-US">
                          <a:solidFill>
                            <a:srgbClr val="00B0F0"/>
                          </a:solidFill>
                        </a:rPr>
                        <a:t>bit)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49243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>
                          <a:solidFill>
                            <a:srgbClr val="00B0F0"/>
                          </a:solidFill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solidFill>
                            <a:srgbClr val="00B0F0"/>
                          </a:solidFill>
                        </a:rPr>
                        <a:t>10000100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dirty="0">
                          <a:solidFill>
                            <a:srgbClr val="00B0F0"/>
                          </a:solidFill>
                        </a:rPr>
                        <a:t>00101101100110011001100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0036724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6CD5EA83-15F8-643F-EDAE-D66FA2BF80B3}"/>
              </a:ext>
            </a:extLst>
          </p:cNvPr>
          <p:cNvSpPr/>
          <p:nvPr/>
        </p:nvSpPr>
        <p:spPr>
          <a:xfrm>
            <a:off x="10990908" y="464457"/>
            <a:ext cx="1201092" cy="9931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480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29E88-B308-68B0-52BF-CD911A0B0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03FDE67-FAB1-CFBF-1C38-9445E6BD49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5170721"/>
              </p:ext>
            </p:extLst>
          </p:nvPr>
        </p:nvGraphicFramePr>
        <p:xfrm>
          <a:off x="0" y="349127"/>
          <a:ext cx="11281371" cy="914400"/>
        </p:xfrm>
        <a:graphic>
          <a:graphicData uri="http://schemas.openxmlformats.org/drawingml/2006/table">
            <a:tbl>
              <a:tblPr/>
              <a:tblGrid>
                <a:gridCol w="3760457">
                  <a:extLst>
                    <a:ext uri="{9D8B030D-6E8A-4147-A177-3AD203B41FA5}">
                      <a16:colId xmlns:a16="http://schemas.microsoft.com/office/drawing/2014/main" val="2067002924"/>
                    </a:ext>
                  </a:extLst>
                </a:gridCol>
                <a:gridCol w="2644115">
                  <a:extLst>
                    <a:ext uri="{9D8B030D-6E8A-4147-A177-3AD203B41FA5}">
                      <a16:colId xmlns:a16="http://schemas.microsoft.com/office/drawing/2014/main" val="884741122"/>
                    </a:ext>
                  </a:extLst>
                </a:gridCol>
                <a:gridCol w="4876799">
                  <a:extLst>
                    <a:ext uri="{9D8B030D-6E8A-4147-A177-3AD203B41FA5}">
                      <a16:colId xmlns:a16="http://schemas.microsoft.com/office/drawing/2014/main" val="20795499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2400" dirty="0"/>
                        <a:t>부호</a:t>
                      </a:r>
                      <a:r>
                        <a:rPr lang="en-US" altLang="ko-KR" sz="2400" dirty="0"/>
                        <a:t>(</a:t>
                      </a:r>
                      <a:r>
                        <a:rPr lang="en-US" sz="2400" dirty="0"/>
                        <a:t>S) 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 err="1"/>
                        <a:t>지수부</a:t>
                      </a:r>
                      <a:r>
                        <a:rPr lang="en-US" altLang="ko-KR" sz="2400" dirty="0"/>
                        <a:t>(8</a:t>
                      </a:r>
                      <a:r>
                        <a:rPr lang="en-US" sz="2400" dirty="0"/>
                        <a:t>bit)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/>
                        <a:t>기수부</a:t>
                      </a:r>
                      <a:r>
                        <a:rPr lang="en-US" altLang="ko-KR" sz="2400"/>
                        <a:t>(23</a:t>
                      </a:r>
                      <a:r>
                        <a:rPr lang="en-US" sz="2400"/>
                        <a:t>bit)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49243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2400" dirty="0">
                          <a:solidFill>
                            <a:srgbClr val="7030A0"/>
                          </a:solidFill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400" dirty="0">
                          <a:solidFill>
                            <a:srgbClr val="7030A0"/>
                          </a:solidFill>
                        </a:rPr>
                        <a:t>100 0010</a:t>
                      </a:r>
                      <a:r>
                        <a:rPr lang="en-US" altLang="ko-KR" sz="2400" dirty="0"/>
                        <a:t>  </a:t>
                      </a:r>
                      <a:r>
                        <a:rPr lang="en-US" altLang="ko-KR" sz="2400" dirty="0">
                          <a:solidFill>
                            <a:schemeClr val="accent1"/>
                          </a:solidFill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400" dirty="0">
                          <a:solidFill>
                            <a:schemeClr val="accent1"/>
                          </a:solidFill>
                        </a:rPr>
                        <a:t>001  0110 </a:t>
                      </a:r>
                      <a:r>
                        <a:rPr lang="en-US" altLang="ko-KR" sz="2400" dirty="0">
                          <a:highlight>
                            <a:srgbClr val="FFFF00"/>
                          </a:highlight>
                        </a:rPr>
                        <a:t>1100 1100 </a:t>
                      </a:r>
                      <a:r>
                        <a:rPr lang="en-US" altLang="ko-KR" sz="2400" dirty="0">
                          <a:solidFill>
                            <a:srgbClr val="FF0000"/>
                          </a:solidFill>
                        </a:rPr>
                        <a:t>1100 1100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0036724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FC09469-449F-AC46-F41B-E6A816A62E56}"/>
              </a:ext>
            </a:extLst>
          </p:cNvPr>
          <p:cNvSpPr txBox="1"/>
          <p:nvPr/>
        </p:nvSpPr>
        <p:spPr>
          <a:xfrm>
            <a:off x="2688878" y="2272420"/>
            <a:ext cx="6545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>
                <a:solidFill>
                  <a:srgbClr val="7030A0"/>
                </a:solidFill>
              </a:rPr>
              <a:t>0x42</a:t>
            </a:r>
            <a:r>
              <a:rPr lang="en-US" altLang="ko-KR" sz="3600" dirty="0"/>
              <a:t>  </a:t>
            </a:r>
            <a:r>
              <a:rPr lang="en-US" altLang="ko-KR" sz="3600" dirty="0">
                <a:solidFill>
                  <a:schemeClr val="accent1"/>
                </a:solidFill>
              </a:rPr>
              <a:t>0x16</a:t>
            </a:r>
            <a:r>
              <a:rPr lang="en-US" altLang="ko-KR" sz="3600" dirty="0"/>
              <a:t> </a:t>
            </a:r>
            <a:r>
              <a:rPr lang="en-US" altLang="ko-KR" sz="3600" dirty="0">
                <a:highlight>
                  <a:srgbClr val="FFFF00"/>
                </a:highlight>
              </a:rPr>
              <a:t>0xcc</a:t>
            </a:r>
            <a:r>
              <a:rPr lang="en-US" altLang="ko-KR" sz="3600" dirty="0"/>
              <a:t>    </a:t>
            </a:r>
            <a:r>
              <a:rPr lang="en-US" altLang="ko-KR" sz="3600" dirty="0" err="1">
                <a:solidFill>
                  <a:srgbClr val="FF0000"/>
                </a:solidFill>
              </a:rPr>
              <a:t>0xcc</a:t>
            </a:r>
            <a:endParaRPr lang="ko-KR" altLang="en-US" sz="3600" dirty="0">
              <a:solidFill>
                <a:srgbClr val="FF0000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2EFC9E9-9C87-C820-37FE-90BD2F24CF3F}"/>
              </a:ext>
            </a:extLst>
          </p:cNvPr>
          <p:cNvSpPr/>
          <p:nvPr/>
        </p:nvSpPr>
        <p:spPr>
          <a:xfrm>
            <a:off x="10366217" y="2738105"/>
            <a:ext cx="1385181" cy="30419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6961C2B-926D-8D88-727A-87FDEB49D1C8}"/>
              </a:ext>
            </a:extLst>
          </p:cNvPr>
          <p:cNvCxnSpPr/>
          <p:nvPr/>
        </p:nvCxnSpPr>
        <p:spPr>
          <a:xfrm>
            <a:off x="10330004" y="3429000"/>
            <a:ext cx="143950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B9C838F2-D07C-5FD1-96EA-B458E4979693}"/>
              </a:ext>
            </a:extLst>
          </p:cNvPr>
          <p:cNvCxnSpPr/>
          <p:nvPr/>
        </p:nvCxnSpPr>
        <p:spPr>
          <a:xfrm>
            <a:off x="10339056" y="4115555"/>
            <a:ext cx="143950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68EA0199-19E7-1E35-06D2-2F34089F729C}"/>
              </a:ext>
            </a:extLst>
          </p:cNvPr>
          <p:cNvCxnSpPr/>
          <p:nvPr/>
        </p:nvCxnSpPr>
        <p:spPr>
          <a:xfrm>
            <a:off x="10366217" y="5011847"/>
            <a:ext cx="143950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793A793-3B59-F91B-E2BD-A076D4D28562}"/>
              </a:ext>
            </a:extLst>
          </p:cNvPr>
          <p:cNvSpPr/>
          <p:nvPr/>
        </p:nvSpPr>
        <p:spPr>
          <a:xfrm>
            <a:off x="10366217" y="2752253"/>
            <a:ext cx="1403288" cy="646324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>
                <a:solidFill>
                  <a:srgbClr val="7030A0"/>
                </a:solidFill>
              </a:rPr>
              <a:t>0x42</a:t>
            </a:r>
            <a:endParaRPr lang="ko-KR" altLang="en-US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EB649AE7-77F4-FDB4-DF44-E27A1672FA2B}"/>
              </a:ext>
            </a:extLst>
          </p:cNvPr>
          <p:cNvCxnSpPr/>
          <p:nvPr/>
        </p:nvCxnSpPr>
        <p:spPr>
          <a:xfrm>
            <a:off x="10366217" y="4125863"/>
            <a:ext cx="143950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A49A8A9C-51C9-0F3C-78E8-0B717A353272}"/>
              </a:ext>
            </a:extLst>
          </p:cNvPr>
          <p:cNvSpPr/>
          <p:nvPr/>
        </p:nvSpPr>
        <p:spPr>
          <a:xfrm>
            <a:off x="10357164" y="3479539"/>
            <a:ext cx="1403288" cy="646324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dirty="0">
                <a:solidFill>
                  <a:schemeClr val="accent1"/>
                </a:solidFill>
              </a:rPr>
              <a:t>0x16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482C7B17-0D42-344B-6EDB-4A1B6B58FDED}"/>
              </a:ext>
            </a:extLst>
          </p:cNvPr>
          <p:cNvCxnSpPr/>
          <p:nvPr/>
        </p:nvCxnSpPr>
        <p:spPr>
          <a:xfrm>
            <a:off x="10482404" y="3581400"/>
            <a:ext cx="143950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7B1F0269-FD4A-8D60-16B9-1D5ACCC0A64F}"/>
              </a:ext>
            </a:extLst>
          </p:cNvPr>
          <p:cNvSpPr/>
          <p:nvPr/>
        </p:nvSpPr>
        <p:spPr>
          <a:xfrm>
            <a:off x="10375269" y="4267955"/>
            <a:ext cx="1403288" cy="646324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dirty="0">
                <a:solidFill>
                  <a:schemeClr val="tx1"/>
                </a:solidFill>
                <a:highlight>
                  <a:srgbClr val="FFFF00"/>
                </a:highlight>
              </a:rPr>
              <a:t>0xcc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85B73BBC-E6BF-07BF-1A52-52586A2F17AA}"/>
              </a:ext>
            </a:extLst>
          </p:cNvPr>
          <p:cNvCxnSpPr/>
          <p:nvPr/>
        </p:nvCxnSpPr>
        <p:spPr>
          <a:xfrm>
            <a:off x="10320951" y="5697393"/>
            <a:ext cx="143950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42E4DDB8-B0DB-B03B-C9E0-618D353D1B38}"/>
              </a:ext>
            </a:extLst>
          </p:cNvPr>
          <p:cNvSpPr/>
          <p:nvPr/>
        </p:nvSpPr>
        <p:spPr>
          <a:xfrm>
            <a:off x="10357164" y="5020646"/>
            <a:ext cx="1403288" cy="646324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dirty="0">
                <a:solidFill>
                  <a:schemeClr val="tx1"/>
                </a:solidFill>
              </a:rPr>
              <a:t>0xcc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2760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D3FA8-AE63-44AF-3F1C-2187C3EA5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36D6C6-F290-6AF7-3DCF-00C9FD9E8B77}"/>
              </a:ext>
            </a:extLst>
          </p:cNvPr>
          <p:cNvSpPr txBox="1"/>
          <p:nvPr/>
        </p:nvSpPr>
        <p:spPr>
          <a:xfrm>
            <a:off x="1285593" y="1068309"/>
            <a:ext cx="24836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int a = 40</a:t>
            </a:r>
            <a:endParaRPr lang="ko-KR" altLang="en-US" sz="2800" b="1" dirty="0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983E2925-8B9E-F884-59BF-C379942277EB}"/>
              </a:ext>
            </a:extLst>
          </p:cNvPr>
          <p:cNvSpPr/>
          <p:nvPr/>
        </p:nvSpPr>
        <p:spPr>
          <a:xfrm>
            <a:off x="9874312" y="1068309"/>
            <a:ext cx="2064190" cy="435471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5A9691CA-E195-CB48-6EE5-BA98FD0D6E97}"/>
              </a:ext>
            </a:extLst>
          </p:cNvPr>
          <p:cNvSpPr/>
          <p:nvPr/>
        </p:nvSpPr>
        <p:spPr>
          <a:xfrm>
            <a:off x="9913542" y="4204131"/>
            <a:ext cx="2024959" cy="117599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800" dirty="0"/>
              <a:t>00101000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B634BE1-37D4-C57B-A8B7-516CD7F48E07}"/>
              </a:ext>
            </a:extLst>
          </p:cNvPr>
          <p:cNvSpPr/>
          <p:nvPr/>
        </p:nvSpPr>
        <p:spPr>
          <a:xfrm>
            <a:off x="9874312" y="3085421"/>
            <a:ext cx="2024959" cy="109728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800" dirty="0"/>
              <a:t>00000000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8E98D17-F30C-5B83-5564-4583F28C42F5}"/>
              </a:ext>
            </a:extLst>
          </p:cNvPr>
          <p:cNvSpPr/>
          <p:nvPr/>
        </p:nvSpPr>
        <p:spPr>
          <a:xfrm>
            <a:off x="9913543" y="2094154"/>
            <a:ext cx="2024959" cy="969837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800" dirty="0"/>
              <a:t>00000000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556CD13-D63C-B845-7008-5BFA19F4211E}"/>
              </a:ext>
            </a:extLst>
          </p:cNvPr>
          <p:cNvSpPr/>
          <p:nvPr/>
        </p:nvSpPr>
        <p:spPr>
          <a:xfrm>
            <a:off x="9913543" y="1105163"/>
            <a:ext cx="2024959" cy="967562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800" dirty="0"/>
              <a:t>00000000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CC514C-4110-2932-D18E-A521BE2C61B3}"/>
              </a:ext>
            </a:extLst>
          </p:cNvPr>
          <p:cNvSpPr txBox="1"/>
          <p:nvPr/>
        </p:nvSpPr>
        <p:spPr>
          <a:xfrm>
            <a:off x="685801" y="2951946"/>
            <a:ext cx="881430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/>
              <a:t>40 </a:t>
            </a:r>
          </a:p>
          <a:p>
            <a:r>
              <a:rPr lang="ko-KR" altLang="en-US" sz="2800" dirty="0"/>
              <a:t>→ 00000000 00000000 00000000 00101000₂</a:t>
            </a:r>
          </a:p>
        </p:txBody>
      </p:sp>
    </p:spTree>
    <p:extLst>
      <p:ext uri="{BB962C8B-B14F-4D97-AF65-F5344CB8AC3E}">
        <p14:creationId xmlns:p14="http://schemas.microsoft.com/office/powerpoint/2010/main" val="2199971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F9552-08BF-026D-A6C1-B70848D8A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C7D63E-6B29-D56A-36FB-B58842F162BE}"/>
              </a:ext>
            </a:extLst>
          </p:cNvPr>
          <p:cNvSpPr txBox="1"/>
          <p:nvPr/>
        </p:nvSpPr>
        <p:spPr>
          <a:xfrm>
            <a:off x="1285593" y="1068309"/>
            <a:ext cx="3268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float a = 40.0f</a:t>
            </a:r>
            <a:endParaRPr lang="ko-KR" altLang="en-US" sz="2800" b="1" dirty="0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B1FDAB5F-CAA7-04A8-4DA8-E83FDEC65D3A}"/>
              </a:ext>
            </a:extLst>
          </p:cNvPr>
          <p:cNvSpPr/>
          <p:nvPr/>
        </p:nvSpPr>
        <p:spPr>
          <a:xfrm>
            <a:off x="9874312" y="1068309"/>
            <a:ext cx="2064190" cy="435471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89BD7807-8492-D353-6FA9-24FBAA2BF76B}"/>
              </a:ext>
            </a:extLst>
          </p:cNvPr>
          <p:cNvSpPr/>
          <p:nvPr/>
        </p:nvSpPr>
        <p:spPr>
          <a:xfrm>
            <a:off x="9913542" y="4204131"/>
            <a:ext cx="2024959" cy="117599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dirty="0"/>
              <a:t>000000000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D2EAA15B-D81F-5A68-C496-992C934476DC}"/>
              </a:ext>
            </a:extLst>
          </p:cNvPr>
          <p:cNvSpPr/>
          <p:nvPr/>
        </p:nvSpPr>
        <p:spPr>
          <a:xfrm>
            <a:off x="9913541" y="3074094"/>
            <a:ext cx="2024959" cy="109728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dirty="0"/>
              <a:t>00000000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EB8EBF4-7133-059C-3F14-D61AD9A6724D}"/>
              </a:ext>
            </a:extLst>
          </p:cNvPr>
          <p:cNvSpPr/>
          <p:nvPr/>
        </p:nvSpPr>
        <p:spPr>
          <a:xfrm>
            <a:off x="9913543" y="2094154"/>
            <a:ext cx="2024959" cy="969837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dirty="0"/>
              <a:t>00010000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9911D359-B51C-8589-3937-79F75FC1A6C7}"/>
              </a:ext>
            </a:extLst>
          </p:cNvPr>
          <p:cNvSpPr/>
          <p:nvPr/>
        </p:nvSpPr>
        <p:spPr>
          <a:xfrm>
            <a:off x="9913543" y="1105163"/>
            <a:ext cx="2024959" cy="967562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dirty="0"/>
              <a:t>01000001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C6B6EB-0C82-A9A2-B811-0AEA4C2B43BB}"/>
              </a:ext>
            </a:extLst>
          </p:cNvPr>
          <p:cNvSpPr txBox="1"/>
          <p:nvPr/>
        </p:nvSpPr>
        <p:spPr>
          <a:xfrm>
            <a:off x="712961" y="2938616"/>
            <a:ext cx="1032321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/>
              <a:t>40</a:t>
            </a:r>
            <a:r>
              <a:rPr lang="en-US" altLang="ko-KR" sz="2800" dirty="0"/>
              <a:t>.0f</a:t>
            </a:r>
            <a:r>
              <a:rPr lang="ko-KR" altLang="en-US" sz="2800" dirty="0"/>
              <a:t> </a:t>
            </a:r>
          </a:p>
          <a:p>
            <a:r>
              <a:rPr lang="ko-KR" altLang="en-US" sz="2800" dirty="0"/>
              <a:t>→</a:t>
            </a:r>
            <a:r>
              <a:rPr lang="en-US" altLang="ko-KR" sz="2800" dirty="0"/>
              <a:t> 01000001 00010000 00000000 000000000</a:t>
            </a:r>
            <a:r>
              <a:rPr lang="ko-KR" altLang="en-US" sz="2800" dirty="0"/>
              <a:t>₂</a:t>
            </a:r>
            <a:endParaRPr lang="en-US" altLang="ko-KR" sz="2800" dirty="0"/>
          </a:p>
          <a:p>
            <a:r>
              <a:rPr lang="en-US" altLang="ko-KR" sz="2800" dirty="0"/>
              <a:t>→ 0x42200000</a:t>
            </a:r>
            <a:endParaRPr lang="ko-KR" alt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906CA5-BC0E-EB4B-38ED-F0456D91F337}"/>
              </a:ext>
            </a:extLst>
          </p:cNvPr>
          <p:cNvSpPr txBox="1"/>
          <p:nvPr/>
        </p:nvSpPr>
        <p:spPr>
          <a:xfrm>
            <a:off x="1285593" y="2072725"/>
            <a:ext cx="60975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40 = 101000₂ = 1.01000 × 2⁵</a:t>
            </a:r>
          </a:p>
        </p:txBody>
      </p:sp>
    </p:spTree>
    <p:extLst>
      <p:ext uri="{BB962C8B-B14F-4D97-AF65-F5344CB8AC3E}">
        <p14:creationId xmlns:p14="http://schemas.microsoft.com/office/powerpoint/2010/main" val="716467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0E008F3-78AD-D956-BB9E-E3F842BE01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483" y="1719848"/>
            <a:ext cx="8763000" cy="4019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8BC3A5E-A85D-F6E9-43A2-795159BFD067}"/>
              </a:ext>
            </a:extLst>
          </p:cNvPr>
          <p:cNvSpPr txBox="1"/>
          <p:nvPr/>
        </p:nvSpPr>
        <p:spPr>
          <a:xfrm>
            <a:off x="1819747" y="826214"/>
            <a:ext cx="34886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/>
              <a:t>int ages[5]</a:t>
            </a:r>
            <a:endParaRPr lang="ko-KR" altLang="en-US" sz="3200" dirty="0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70D009DC-6C5F-D4BD-11FA-9A3E08769883}"/>
              </a:ext>
            </a:extLst>
          </p:cNvPr>
          <p:cNvCxnSpPr/>
          <p:nvPr/>
        </p:nvCxnSpPr>
        <p:spPr>
          <a:xfrm flipV="1">
            <a:off x="2548550" y="1478524"/>
            <a:ext cx="407406" cy="5536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EBC93A2-39B5-8E78-BA60-2A5D34A4B3AC}"/>
              </a:ext>
            </a:extLst>
          </p:cNvPr>
          <p:cNvSpPr txBox="1"/>
          <p:nvPr/>
        </p:nvSpPr>
        <p:spPr>
          <a:xfrm>
            <a:off x="2209046" y="2064190"/>
            <a:ext cx="1086415" cy="371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배열명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39443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EE7CD-637A-FE15-7774-4C507E9F6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417D8E-6052-959E-E65E-AF5FF92A9BC5}"/>
              </a:ext>
            </a:extLst>
          </p:cNvPr>
          <p:cNvSpPr txBox="1"/>
          <p:nvPr/>
        </p:nvSpPr>
        <p:spPr>
          <a:xfrm>
            <a:off x="1312754" y="1077362"/>
            <a:ext cx="35580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int </a:t>
            </a:r>
            <a:r>
              <a:rPr lang="en-US" altLang="ko-KR" sz="2800" b="1" dirty="0" err="1"/>
              <a:t>arr</a:t>
            </a:r>
            <a:r>
              <a:rPr lang="en-US" altLang="ko-KR" sz="2800" b="1" dirty="0"/>
              <a:t>[3] ;</a:t>
            </a:r>
            <a:endParaRPr lang="ko-KR" altLang="en-US"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8B7B7B-90AE-509D-72F6-4E305A4E5509}"/>
              </a:ext>
            </a:extLst>
          </p:cNvPr>
          <p:cNvSpPr txBox="1"/>
          <p:nvPr/>
        </p:nvSpPr>
        <p:spPr>
          <a:xfrm>
            <a:off x="1312754" y="1937442"/>
            <a:ext cx="9116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4byte</a:t>
            </a:r>
            <a:r>
              <a:rPr lang="ko-KR" altLang="en-US" dirty="0"/>
              <a:t>의 크기를 가지는 정수를 </a:t>
            </a:r>
            <a:r>
              <a:rPr lang="en-US" altLang="ko-KR" dirty="0"/>
              <a:t>3 </a:t>
            </a:r>
            <a:r>
              <a:rPr lang="ko-KR" altLang="en-US" dirty="0"/>
              <a:t>개 저장할  메모리 공간</a:t>
            </a:r>
            <a:r>
              <a:rPr lang="en-US" altLang="ko-KR" dirty="0"/>
              <a:t>(12byte)</a:t>
            </a:r>
            <a:r>
              <a:rPr lang="ko-KR" altLang="en-US" dirty="0"/>
              <a:t> 확보</a:t>
            </a:r>
          </a:p>
        </p:txBody>
      </p:sp>
    </p:spTree>
    <p:extLst>
      <p:ext uri="{BB962C8B-B14F-4D97-AF65-F5344CB8AC3E}">
        <p14:creationId xmlns:p14="http://schemas.microsoft.com/office/powerpoint/2010/main" val="1435127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7D4A9-7789-A4C3-D858-60C65E4C8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166F9EC-C9ED-F371-C3D3-D0F77177BB9A}"/>
              </a:ext>
            </a:extLst>
          </p:cNvPr>
          <p:cNvSpPr txBox="1"/>
          <p:nvPr/>
        </p:nvSpPr>
        <p:spPr>
          <a:xfrm>
            <a:off x="1050203" y="487379"/>
            <a:ext cx="35580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err="1"/>
              <a:t>arr</a:t>
            </a:r>
            <a:r>
              <a:rPr lang="en-US" altLang="ko-KR" sz="2800" b="1" dirty="0"/>
              <a:t>[0] =5</a:t>
            </a:r>
            <a:endParaRPr lang="ko-KR" altLang="en-US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5EEE09-178B-34B6-66A7-4AA5268EA038}"/>
              </a:ext>
            </a:extLst>
          </p:cNvPr>
          <p:cNvSpPr txBox="1"/>
          <p:nvPr/>
        </p:nvSpPr>
        <p:spPr>
          <a:xfrm>
            <a:off x="1050203" y="1293138"/>
            <a:ext cx="91168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배열은 </a:t>
            </a:r>
            <a:r>
              <a:rPr lang="en-US" altLang="ko-KR" dirty="0"/>
              <a:t>0 </a:t>
            </a:r>
            <a:r>
              <a:rPr lang="ko-KR" altLang="en-US" dirty="0"/>
              <a:t>번 부터 시작하고 </a:t>
            </a:r>
            <a:r>
              <a:rPr lang="en-US" altLang="ko-KR" dirty="0"/>
              <a:t>[ ] </a:t>
            </a:r>
            <a:r>
              <a:rPr lang="ko-KR" altLang="en-US" dirty="0"/>
              <a:t>를 사용하여 </a:t>
            </a:r>
            <a:r>
              <a:rPr lang="en-US" altLang="ko-KR" dirty="0"/>
              <a:t>index(</a:t>
            </a:r>
            <a:r>
              <a:rPr lang="ko-KR" altLang="en-US" dirty="0"/>
              <a:t>숫자</a:t>
            </a:r>
            <a:r>
              <a:rPr lang="en-US" altLang="ko-KR" dirty="0"/>
              <a:t>)</a:t>
            </a:r>
            <a:r>
              <a:rPr lang="ko-KR" altLang="en-US" dirty="0"/>
              <a:t>를 이용하여 </a:t>
            </a:r>
            <a:endParaRPr lang="en-US" altLang="ko-KR" dirty="0"/>
          </a:p>
          <a:p>
            <a:r>
              <a:rPr lang="ko-KR" altLang="en-US" dirty="0"/>
              <a:t>숫자 </a:t>
            </a:r>
            <a:r>
              <a:rPr lang="en-US" altLang="ko-KR" dirty="0"/>
              <a:t>5</a:t>
            </a:r>
            <a:r>
              <a:rPr lang="ko-KR" altLang="en-US" dirty="0"/>
              <a:t>를 배열의 </a:t>
            </a:r>
            <a:r>
              <a:rPr lang="en-US" altLang="ko-KR" dirty="0"/>
              <a:t>0</a:t>
            </a:r>
            <a:r>
              <a:rPr lang="ko-KR" altLang="en-US" dirty="0"/>
              <a:t>번 </a:t>
            </a:r>
            <a:r>
              <a:rPr lang="en-US" altLang="ko-KR" dirty="0"/>
              <a:t>index</a:t>
            </a:r>
            <a:r>
              <a:rPr lang="ko-KR" altLang="en-US" dirty="0"/>
              <a:t>의 위치에 </a:t>
            </a:r>
            <a:r>
              <a:rPr lang="en-US" altLang="ko-KR" dirty="0"/>
              <a:t>5</a:t>
            </a:r>
            <a:r>
              <a:rPr lang="ko-KR" altLang="en-US" dirty="0"/>
              <a:t>를 저장함 </a:t>
            </a:r>
            <a:r>
              <a:rPr lang="en-US" altLang="ko-KR" dirty="0"/>
              <a:t> </a:t>
            </a:r>
            <a:r>
              <a:rPr lang="ko-KR" altLang="en-US" dirty="0"/>
              <a:t> 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32546291-A493-F663-59B5-BB2119181723}"/>
              </a:ext>
            </a:extLst>
          </p:cNvPr>
          <p:cNvSpPr/>
          <p:nvPr/>
        </p:nvSpPr>
        <p:spPr>
          <a:xfrm>
            <a:off x="9874312" y="1068309"/>
            <a:ext cx="1645816" cy="5187635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37C13EB-AB26-C364-0C9F-5BAC6700E129}"/>
              </a:ext>
            </a:extLst>
          </p:cNvPr>
          <p:cNvSpPr/>
          <p:nvPr/>
        </p:nvSpPr>
        <p:spPr>
          <a:xfrm>
            <a:off x="9905592" y="2293344"/>
            <a:ext cx="1614536" cy="461727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dirty="0">
                <a:solidFill>
                  <a:schemeClr val="tx1"/>
                </a:solidFill>
              </a:rPr>
              <a:t>0x00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A722A8E-55D9-13C2-EFDA-D4CF29E6D29A}"/>
              </a:ext>
            </a:extLst>
          </p:cNvPr>
          <p:cNvSpPr/>
          <p:nvPr/>
        </p:nvSpPr>
        <p:spPr>
          <a:xfrm>
            <a:off x="9909568" y="1862524"/>
            <a:ext cx="1614536" cy="43082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dirty="0">
                <a:solidFill>
                  <a:schemeClr val="tx1"/>
                </a:solidFill>
              </a:rPr>
              <a:t>0x00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DEF05C8-8E59-9403-6204-371507F51252}"/>
              </a:ext>
            </a:extLst>
          </p:cNvPr>
          <p:cNvSpPr/>
          <p:nvPr/>
        </p:nvSpPr>
        <p:spPr>
          <a:xfrm>
            <a:off x="9913544" y="1482635"/>
            <a:ext cx="1614536" cy="380783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dirty="0">
                <a:solidFill>
                  <a:schemeClr val="tx1"/>
                </a:solidFill>
              </a:rPr>
              <a:t>0x00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BB940B3-5126-213E-4FB1-3F8A73D6A19F}"/>
              </a:ext>
            </a:extLst>
          </p:cNvPr>
          <p:cNvSpPr/>
          <p:nvPr/>
        </p:nvSpPr>
        <p:spPr>
          <a:xfrm>
            <a:off x="9913544" y="1105163"/>
            <a:ext cx="1614536" cy="37988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0x05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522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79F60-F2F5-4A0B-F018-4A9111DA8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3D78CB5-38D8-81E6-EB5E-3675A1D43D71}"/>
              </a:ext>
            </a:extLst>
          </p:cNvPr>
          <p:cNvSpPr txBox="1"/>
          <p:nvPr/>
        </p:nvSpPr>
        <p:spPr>
          <a:xfrm>
            <a:off x="1050203" y="487379"/>
            <a:ext cx="35580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err="1"/>
              <a:t>arr</a:t>
            </a:r>
            <a:r>
              <a:rPr lang="en-US" altLang="ko-KR" sz="2800" b="1" dirty="0"/>
              <a:t>[1] =10</a:t>
            </a:r>
            <a:endParaRPr lang="ko-KR" altLang="en-US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032ED5-816B-AF96-8B3E-88DFB111B023}"/>
              </a:ext>
            </a:extLst>
          </p:cNvPr>
          <p:cNvSpPr txBox="1"/>
          <p:nvPr/>
        </p:nvSpPr>
        <p:spPr>
          <a:xfrm>
            <a:off x="1050203" y="1293138"/>
            <a:ext cx="9116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배열</a:t>
            </a:r>
            <a:r>
              <a:rPr lang="en-US" altLang="ko-KR" dirty="0"/>
              <a:t>(</a:t>
            </a:r>
            <a:r>
              <a:rPr lang="en-US" altLang="ko-KR" dirty="0" err="1"/>
              <a:t>arr</a:t>
            </a:r>
            <a:r>
              <a:rPr lang="en-US" altLang="ko-KR" dirty="0"/>
              <a:t>)</a:t>
            </a:r>
            <a:r>
              <a:rPr lang="ko-KR" altLang="en-US" dirty="0"/>
              <a:t>의 </a:t>
            </a:r>
            <a:r>
              <a:rPr lang="en-US" altLang="ko-KR" dirty="0"/>
              <a:t>1</a:t>
            </a:r>
            <a:r>
              <a:rPr lang="ko-KR" altLang="en-US" dirty="0"/>
              <a:t>번 위치에 숫자 </a:t>
            </a:r>
            <a:r>
              <a:rPr lang="en-US" altLang="ko-KR" dirty="0"/>
              <a:t>10</a:t>
            </a:r>
            <a:r>
              <a:rPr lang="ko-KR" altLang="en-US" dirty="0"/>
              <a:t>을 저장함 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889FE906-5549-C907-DEAD-B54655618168}"/>
              </a:ext>
            </a:extLst>
          </p:cNvPr>
          <p:cNvSpPr/>
          <p:nvPr/>
        </p:nvSpPr>
        <p:spPr>
          <a:xfrm>
            <a:off x="9874312" y="1068309"/>
            <a:ext cx="1645816" cy="5187635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9EAEABA2-3B90-6B85-E2B7-80FC8FF2A716}"/>
              </a:ext>
            </a:extLst>
          </p:cNvPr>
          <p:cNvSpPr/>
          <p:nvPr/>
        </p:nvSpPr>
        <p:spPr>
          <a:xfrm>
            <a:off x="9905592" y="2293344"/>
            <a:ext cx="1614536" cy="461727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dirty="0">
                <a:solidFill>
                  <a:schemeClr val="tx1"/>
                </a:solidFill>
              </a:rPr>
              <a:t>0x00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901E630C-B65A-E033-F602-5E79B35F5737}"/>
              </a:ext>
            </a:extLst>
          </p:cNvPr>
          <p:cNvSpPr/>
          <p:nvPr/>
        </p:nvSpPr>
        <p:spPr>
          <a:xfrm>
            <a:off x="9909568" y="1862524"/>
            <a:ext cx="1614536" cy="43082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dirty="0">
                <a:solidFill>
                  <a:schemeClr val="tx1"/>
                </a:solidFill>
              </a:rPr>
              <a:t>0x00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610313EC-69AF-A514-A2C7-0C5D0332C9D5}"/>
              </a:ext>
            </a:extLst>
          </p:cNvPr>
          <p:cNvSpPr/>
          <p:nvPr/>
        </p:nvSpPr>
        <p:spPr>
          <a:xfrm>
            <a:off x="9913544" y="1482635"/>
            <a:ext cx="1614536" cy="380783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dirty="0">
                <a:solidFill>
                  <a:schemeClr val="tx1"/>
                </a:solidFill>
              </a:rPr>
              <a:t>0x00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261E841-8788-B8DA-E4A4-EFD9B010CFFF}"/>
              </a:ext>
            </a:extLst>
          </p:cNvPr>
          <p:cNvSpPr/>
          <p:nvPr/>
        </p:nvSpPr>
        <p:spPr>
          <a:xfrm>
            <a:off x="9913544" y="1105163"/>
            <a:ext cx="1614536" cy="37988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0x40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48FC330-CDC8-D51B-E0C1-3459787E4BE9}"/>
              </a:ext>
            </a:extLst>
          </p:cNvPr>
          <p:cNvSpPr/>
          <p:nvPr/>
        </p:nvSpPr>
        <p:spPr>
          <a:xfrm>
            <a:off x="9903604" y="3977081"/>
            <a:ext cx="1614536" cy="461727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dirty="0">
                <a:solidFill>
                  <a:schemeClr val="tx1"/>
                </a:solidFill>
              </a:rPr>
              <a:t>0x00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8C234599-F89D-AF1D-8910-B69E72ED494E}"/>
              </a:ext>
            </a:extLst>
          </p:cNvPr>
          <p:cNvSpPr/>
          <p:nvPr/>
        </p:nvSpPr>
        <p:spPr>
          <a:xfrm>
            <a:off x="9907580" y="3546261"/>
            <a:ext cx="1614536" cy="43082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dirty="0">
                <a:solidFill>
                  <a:schemeClr val="tx1"/>
                </a:solidFill>
              </a:rPr>
              <a:t>0x00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3B1FC6AE-78E4-79D6-9BFE-39E330BD6BFE}"/>
              </a:ext>
            </a:extLst>
          </p:cNvPr>
          <p:cNvSpPr/>
          <p:nvPr/>
        </p:nvSpPr>
        <p:spPr>
          <a:xfrm>
            <a:off x="9911556" y="3166372"/>
            <a:ext cx="1614536" cy="380783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dirty="0">
                <a:solidFill>
                  <a:schemeClr val="tx1"/>
                </a:solidFill>
              </a:rPr>
              <a:t>0x00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967FD96B-8462-E1D5-2B1F-2303EDEA9DF8}"/>
              </a:ext>
            </a:extLst>
          </p:cNvPr>
          <p:cNvSpPr/>
          <p:nvPr/>
        </p:nvSpPr>
        <p:spPr>
          <a:xfrm>
            <a:off x="9911556" y="2788900"/>
            <a:ext cx="1614536" cy="37988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0x0A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0497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BA7E1-2DE6-663A-2450-7A621355D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681E2F2-B429-47B2-9EEB-08DC877FE0EC}"/>
              </a:ext>
            </a:extLst>
          </p:cNvPr>
          <p:cNvSpPr txBox="1"/>
          <p:nvPr/>
        </p:nvSpPr>
        <p:spPr>
          <a:xfrm>
            <a:off x="1050203" y="487379"/>
            <a:ext cx="35580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err="1"/>
              <a:t>arr</a:t>
            </a:r>
            <a:r>
              <a:rPr lang="en-US" altLang="ko-KR" sz="2800" b="1" dirty="0"/>
              <a:t>[2] =12345</a:t>
            </a:r>
            <a:endParaRPr lang="ko-KR" altLang="en-US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2FA4F9-B6CB-03B2-51BC-1A5B3FA65986}"/>
              </a:ext>
            </a:extLst>
          </p:cNvPr>
          <p:cNvSpPr txBox="1"/>
          <p:nvPr/>
        </p:nvSpPr>
        <p:spPr>
          <a:xfrm>
            <a:off x="1050203" y="1293138"/>
            <a:ext cx="9116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배열</a:t>
            </a:r>
            <a:r>
              <a:rPr lang="en-US" altLang="ko-KR" dirty="0"/>
              <a:t>(</a:t>
            </a:r>
            <a:r>
              <a:rPr lang="en-US" altLang="ko-KR" dirty="0" err="1"/>
              <a:t>arr</a:t>
            </a:r>
            <a:r>
              <a:rPr lang="en-US" altLang="ko-KR" dirty="0"/>
              <a:t>)</a:t>
            </a:r>
            <a:r>
              <a:rPr lang="ko-KR" altLang="en-US" dirty="0"/>
              <a:t>의 </a:t>
            </a:r>
            <a:r>
              <a:rPr lang="en-US" altLang="ko-KR" dirty="0"/>
              <a:t>2</a:t>
            </a:r>
            <a:r>
              <a:rPr lang="ko-KR" altLang="en-US" dirty="0"/>
              <a:t>번 위치에 숫자 </a:t>
            </a:r>
            <a:r>
              <a:rPr lang="en-US" altLang="ko-KR" sz="1800" b="1" dirty="0"/>
              <a:t>12345 </a:t>
            </a:r>
            <a:r>
              <a:rPr lang="ko-KR" altLang="en-US" dirty="0"/>
              <a:t>을 저장함 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92F1D96A-4750-D902-5A7D-F1AF6A435DE3}"/>
              </a:ext>
            </a:extLst>
          </p:cNvPr>
          <p:cNvSpPr/>
          <p:nvPr/>
        </p:nvSpPr>
        <p:spPr>
          <a:xfrm>
            <a:off x="9874312" y="1068309"/>
            <a:ext cx="1645816" cy="5187635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109A7158-524D-C6C6-9BF2-76E8CA76FEC8}"/>
              </a:ext>
            </a:extLst>
          </p:cNvPr>
          <p:cNvSpPr/>
          <p:nvPr/>
        </p:nvSpPr>
        <p:spPr>
          <a:xfrm>
            <a:off x="9905592" y="2293344"/>
            <a:ext cx="1614536" cy="461727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dirty="0">
                <a:solidFill>
                  <a:schemeClr val="tx1"/>
                </a:solidFill>
              </a:rPr>
              <a:t>0x00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37A4A507-B8FC-1B04-99A9-C2A91AF89CE0}"/>
              </a:ext>
            </a:extLst>
          </p:cNvPr>
          <p:cNvSpPr/>
          <p:nvPr/>
        </p:nvSpPr>
        <p:spPr>
          <a:xfrm>
            <a:off x="9909568" y="1862524"/>
            <a:ext cx="1614536" cy="43082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dirty="0">
                <a:solidFill>
                  <a:schemeClr val="tx1"/>
                </a:solidFill>
              </a:rPr>
              <a:t>0x00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D59A1CE-3164-11A3-920A-5156F4305F61}"/>
              </a:ext>
            </a:extLst>
          </p:cNvPr>
          <p:cNvSpPr/>
          <p:nvPr/>
        </p:nvSpPr>
        <p:spPr>
          <a:xfrm>
            <a:off x="9913544" y="1482635"/>
            <a:ext cx="1614536" cy="380783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dirty="0">
                <a:solidFill>
                  <a:schemeClr val="tx1"/>
                </a:solidFill>
              </a:rPr>
              <a:t>0x00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17D5001-0662-012A-2BB7-CA62E424C0E5}"/>
              </a:ext>
            </a:extLst>
          </p:cNvPr>
          <p:cNvSpPr/>
          <p:nvPr/>
        </p:nvSpPr>
        <p:spPr>
          <a:xfrm>
            <a:off x="9913544" y="1105163"/>
            <a:ext cx="1614536" cy="37988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0x40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5009AC7-3FA5-0A19-F1BB-2A51819A7DC4}"/>
              </a:ext>
            </a:extLst>
          </p:cNvPr>
          <p:cNvSpPr/>
          <p:nvPr/>
        </p:nvSpPr>
        <p:spPr>
          <a:xfrm>
            <a:off x="9903604" y="3977081"/>
            <a:ext cx="1614536" cy="461727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dirty="0">
                <a:solidFill>
                  <a:schemeClr val="tx1"/>
                </a:solidFill>
              </a:rPr>
              <a:t>0x00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9F00B03-D1FF-E188-9FA8-66B936022166}"/>
              </a:ext>
            </a:extLst>
          </p:cNvPr>
          <p:cNvSpPr/>
          <p:nvPr/>
        </p:nvSpPr>
        <p:spPr>
          <a:xfrm>
            <a:off x="9907580" y="3546261"/>
            <a:ext cx="1614536" cy="43082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dirty="0">
                <a:solidFill>
                  <a:schemeClr val="tx1"/>
                </a:solidFill>
              </a:rPr>
              <a:t>0x00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730ECC28-F8AB-EA96-F8D4-E4A7A2365475}"/>
              </a:ext>
            </a:extLst>
          </p:cNvPr>
          <p:cNvSpPr/>
          <p:nvPr/>
        </p:nvSpPr>
        <p:spPr>
          <a:xfrm>
            <a:off x="9911556" y="3166372"/>
            <a:ext cx="1614536" cy="380783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dirty="0">
                <a:solidFill>
                  <a:schemeClr val="tx1"/>
                </a:solidFill>
              </a:rPr>
              <a:t>0x00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FC7FE2F-068E-871F-9D92-4778ED2846F8}"/>
              </a:ext>
            </a:extLst>
          </p:cNvPr>
          <p:cNvSpPr/>
          <p:nvPr/>
        </p:nvSpPr>
        <p:spPr>
          <a:xfrm>
            <a:off x="9911556" y="2788900"/>
            <a:ext cx="1614536" cy="37988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0x0A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955D9F-3620-45AF-2515-7E105C8F18C8}"/>
              </a:ext>
            </a:extLst>
          </p:cNvPr>
          <p:cNvSpPr txBox="1"/>
          <p:nvPr/>
        </p:nvSpPr>
        <p:spPr>
          <a:xfrm>
            <a:off x="1050203" y="2690336"/>
            <a:ext cx="609750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2진수: 01000110100000011100100000000000</a:t>
            </a:r>
          </a:p>
          <a:p>
            <a:r>
              <a:rPr lang="ko-KR" altLang="en-US" dirty="0"/>
              <a:t>       ↓↓↓↓↓↓↓↓↓↓↓↓↓↓↓↓↓↓↓↓↓↓↓↓↓↓↓↓↓↓↓↓↓</a:t>
            </a:r>
          </a:p>
          <a:p>
            <a:r>
              <a:rPr lang="ko-KR" altLang="en-US" dirty="0"/>
              <a:t>16진수: 0x4641C800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1E78586A-F93D-2114-0CB4-E3EE7F03DC11}"/>
              </a:ext>
            </a:extLst>
          </p:cNvPr>
          <p:cNvSpPr/>
          <p:nvPr/>
        </p:nvSpPr>
        <p:spPr>
          <a:xfrm>
            <a:off x="9903604" y="5696176"/>
            <a:ext cx="1614536" cy="461727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dirty="0">
                <a:solidFill>
                  <a:schemeClr val="tx1"/>
                </a:solidFill>
              </a:rPr>
              <a:t>0x00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675975BC-5F65-7B52-0BCB-0CF57EE39B44}"/>
              </a:ext>
            </a:extLst>
          </p:cNvPr>
          <p:cNvSpPr/>
          <p:nvPr/>
        </p:nvSpPr>
        <p:spPr>
          <a:xfrm>
            <a:off x="9907580" y="5265356"/>
            <a:ext cx="1614536" cy="43082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dirty="0">
                <a:solidFill>
                  <a:schemeClr val="tx1"/>
                </a:solidFill>
              </a:rPr>
              <a:t>0xC8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EC6D367A-651E-A861-2E1B-B4B528E6FE95}"/>
              </a:ext>
            </a:extLst>
          </p:cNvPr>
          <p:cNvSpPr/>
          <p:nvPr/>
        </p:nvSpPr>
        <p:spPr>
          <a:xfrm>
            <a:off x="9911556" y="4885467"/>
            <a:ext cx="1614536" cy="380783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dirty="0">
                <a:solidFill>
                  <a:schemeClr val="tx1"/>
                </a:solidFill>
              </a:rPr>
              <a:t>0x41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48276209-7483-FC73-90BA-992B86BB2058}"/>
              </a:ext>
            </a:extLst>
          </p:cNvPr>
          <p:cNvSpPr/>
          <p:nvPr/>
        </p:nvSpPr>
        <p:spPr>
          <a:xfrm>
            <a:off x="9911556" y="4507995"/>
            <a:ext cx="1614536" cy="37988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0x46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3671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ED7B32-58C3-9CF7-E759-6A220FA17F5A}"/>
              </a:ext>
            </a:extLst>
          </p:cNvPr>
          <p:cNvSpPr txBox="1"/>
          <p:nvPr/>
        </p:nvSpPr>
        <p:spPr>
          <a:xfrm>
            <a:off x="1285593" y="1068309"/>
            <a:ext cx="24836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int a;</a:t>
            </a:r>
            <a:endParaRPr lang="ko-KR" altLang="en-US" sz="2800" b="1" dirty="0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5B7584EB-7BF7-5210-2FE7-4CB24C5CF68F}"/>
              </a:ext>
            </a:extLst>
          </p:cNvPr>
          <p:cNvSpPr/>
          <p:nvPr/>
        </p:nvSpPr>
        <p:spPr>
          <a:xfrm>
            <a:off x="9874312" y="1068309"/>
            <a:ext cx="2064190" cy="435471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58A5BEEA-C6D2-7FB0-C2C1-6EA160A35AB4}"/>
              </a:ext>
            </a:extLst>
          </p:cNvPr>
          <p:cNvSpPr/>
          <p:nvPr/>
        </p:nvSpPr>
        <p:spPr>
          <a:xfrm>
            <a:off x="9874312" y="1068309"/>
            <a:ext cx="2024959" cy="4315278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400" dirty="0">
                <a:solidFill>
                  <a:schemeClr val="tx1"/>
                </a:solidFill>
              </a:rPr>
              <a:t>a</a:t>
            </a:r>
            <a:endParaRPr lang="ko-KR" altLang="en-US" sz="5400" dirty="0">
              <a:solidFill>
                <a:schemeClr val="tx1"/>
              </a:solidFill>
            </a:endParaRPr>
          </a:p>
        </p:txBody>
      </p:sp>
      <p:sp>
        <p:nvSpPr>
          <p:cNvPr id="19" name="말풍선: 타원형 18">
            <a:extLst>
              <a:ext uri="{FF2B5EF4-FFF2-40B4-BE49-F238E27FC236}">
                <a16:creationId xmlns:a16="http://schemas.microsoft.com/office/drawing/2014/main" id="{DBA197EE-5E95-8A5B-96EA-FCD92A345D86}"/>
              </a:ext>
            </a:extLst>
          </p:cNvPr>
          <p:cNvSpPr/>
          <p:nvPr/>
        </p:nvSpPr>
        <p:spPr>
          <a:xfrm rot="5884297">
            <a:off x="5310245" y="-175282"/>
            <a:ext cx="2152440" cy="4911806"/>
          </a:xfrm>
          <a:prstGeom prst="wedgeEllipse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2854E6-5A37-078B-E443-74E3D254071D}"/>
              </a:ext>
            </a:extLst>
          </p:cNvPr>
          <p:cNvSpPr txBox="1"/>
          <p:nvPr/>
        </p:nvSpPr>
        <p:spPr>
          <a:xfrm>
            <a:off x="4344154" y="1865474"/>
            <a:ext cx="40846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메모리 정수의 크기</a:t>
            </a:r>
            <a:r>
              <a:rPr lang="en-US" altLang="ko-KR" dirty="0"/>
              <a:t>(4byte)</a:t>
            </a:r>
            <a:r>
              <a:rPr lang="ko-KR" altLang="en-US" dirty="0"/>
              <a:t>의 메모리 공간</a:t>
            </a:r>
            <a:r>
              <a:rPr lang="en-US" altLang="ko-KR" dirty="0"/>
              <a:t> </a:t>
            </a:r>
            <a:r>
              <a:rPr lang="ko-KR" altLang="en-US" dirty="0"/>
              <a:t>확보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0E3232-A909-F1EA-41C9-49ECC9B7C567}"/>
              </a:ext>
            </a:extLst>
          </p:cNvPr>
          <p:cNvSpPr txBox="1"/>
          <p:nvPr/>
        </p:nvSpPr>
        <p:spPr>
          <a:xfrm>
            <a:off x="3852152" y="252919"/>
            <a:ext cx="48832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변수 선언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메모리 공간확보</a:t>
            </a:r>
            <a:r>
              <a:rPr lang="en-US" altLang="ko-KR" sz="2400" b="1" dirty="0"/>
              <a:t>)</a:t>
            </a:r>
            <a:endParaRPr lang="ko-KR" altLang="en-US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52B69C-C60C-2A9B-C876-EDB42C45AF90}"/>
              </a:ext>
            </a:extLst>
          </p:cNvPr>
          <p:cNvSpPr txBox="1"/>
          <p:nvPr/>
        </p:nvSpPr>
        <p:spPr>
          <a:xfrm>
            <a:off x="8852295" y="1068309"/>
            <a:ext cx="11388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0x45</a:t>
            </a:r>
            <a:endParaRPr lang="ko-KR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421171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7AB02-8C31-C816-F295-0066DEFE8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EDBD16-F28E-BC15-AFD7-B298A4FAB91E}"/>
              </a:ext>
            </a:extLst>
          </p:cNvPr>
          <p:cNvSpPr txBox="1"/>
          <p:nvPr/>
        </p:nvSpPr>
        <p:spPr>
          <a:xfrm>
            <a:off x="1285593" y="1068309"/>
            <a:ext cx="24836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int a = 40</a:t>
            </a:r>
            <a:endParaRPr lang="ko-KR" altLang="en-US" sz="2800" b="1" dirty="0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7FC6DF56-9340-99FC-14CE-B30CB938A1CF}"/>
              </a:ext>
            </a:extLst>
          </p:cNvPr>
          <p:cNvSpPr/>
          <p:nvPr/>
        </p:nvSpPr>
        <p:spPr>
          <a:xfrm>
            <a:off x="9874312" y="1068309"/>
            <a:ext cx="2064190" cy="435471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0E1CFA7E-34CA-1C9B-6290-9424541A2C0E}"/>
              </a:ext>
            </a:extLst>
          </p:cNvPr>
          <p:cNvSpPr/>
          <p:nvPr/>
        </p:nvSpPr>
        <p:spPr>
          <a:xfrm>
            <a:off x="9893927" y="1107748"/>
            <a:ext cx="2024959" cy="4315278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tx1"/>
                </a:solidFill>
              </a:rPr>
              <a:t>a (40)</a:t>
            </a:r>
            <a:endParaRPr lang="ko-KR" altLang="en-US" sz="4000" dirty="0">
              <a:solidFill>
                <a:schemeClr val="tx1"/>
              </a:solidFill>
            </a:endParaRPr>
          </a:p>
        </p:txBody>
      </p:sp>
      <p:sp>
        <p:nvSpPr>
          <p:cNvPr id="19" name="말풍선: 타원형 18">
            <a:extLst>
              <a:ext uri="{FF2B5EF4-FFF2-40B4-BE49-F238E27FC236}">
                <a16:creationId xmlns:a16="http://schemas.microsoft.com/office/drawing/2014/main" id="{1C2DA03B-0230-2FD9-9D1B-E49766B38380}"/>
              </a:ext>
            </a:extLst>
          </p:cNvPr>
          <p:cNvSpPr/>
          <p:nvPr/>
        </p:nvSpPr>
        <p:spPr>
          <a:xfrm rot="5884297">
            <a:off x="5310245" y="-175282"/>
            <a:ext cx="2152440" cy="4911806"/>
          </a:xfrm>
          <a:prstGeom prst="wedgeEllipse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A8CD249-DCE5-C752-5949-70ED1870E7FF}"/>
              </a:ext>
            </a:extLst>
          </p:cNvPr>
          <p:cNvSpPr txBox="1"/>
          <p:nvPr/>
        </p:nvSpPr>
        <p:spPr>
          <a:xfrm>
            <a:off x="4344154" y="1865474"/>
            <a:ext cx="40846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메모리 정수의 크기</a:t>
            </a:r>
            <a:r>
              <a:rPr lang="en-US" altLang="ko-KR" dirty="0"/>
              <a:t>(4byte)</a:t>
            </a:r>
            <a:r>
              <a:rPr lang="ko-KR" altLang="en-US" dirty="0"/>
              <a:t>의 메모리 공간을 확보하고 값 </a:t>
            </a:r>
            <a:r>
              <a:rPr lang="en-US" altLang="ko-KR" dirty="0"/>
              <a:t>40</a:t>
            </a:r>
            <a:r>
              <a:rPr lang="ko-KR" altLang="en-US" dirty="0"/>
              <a:t>을 저장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EF8D4E-43E6-C6B3-DF53-D5BEBBDFF3F9}"/>
              </a:ext>
            </a:extLst>
          </p:cNvPr>
          <p:cNvSpPr txBox="1"/>
          <p:nvPr/>
        </p:nvSpPr>
        <p:spPr>
          <a:xfrm>
            <a:off x="3852152" y="252919"/>
            <a:ext cx="48832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변수 선언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메모리 공간확보</a:t>
            </a:r>
            <a:r>
              <a:rPr lang="en-US" altLang="ko-KR" sz="2400" b="1" dirty="0"/>
              <a:t>)</a:t>
            </a:r>
            <a:endParaRPr lang="ko-KR" altLang="en-US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3DBA38-BA09-9649-6537-BC267E6A2C83}"/>
              </a:ext>
            </a:extLst>
          </p:cNvPr>
          <p:cNvSpPr txBox="1"/>
          <p:nvPr/>
        </p:nvSpPr>
        <p:spPr>
          <a:xfrm>
            <a:off x="8969152" y="1074229"/>
            <a:ext cx="11388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0x45</a:t>
            </a:r>
            <a:endParaRPr lang="ko-KR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0937997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CCA88-A506-49C6-14D5-C7E7B573A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7EA703-A2F1-25F2-3C53-BB501AA5379E}"/>
              </a:ext>
            </a:extLst>
          </p:cNvPr>
          <p:cNvSpPr txBox="1"/>
          <p:nvPr/>
        </p:nvSpPr>
        <p:spPr>
          <a:xfrm>
            <a:off x="1285593" y="1068309"/>
            <a:ext cx="248366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int a = 40</a:t>
            </a:r>
          </a:p>
          <a:p>
            <a:endParaRPr lang="en-US" altLang="ko-KR" sz="2800" b="1" dirty="0"/>
          </a:p>
          <a:p>
            <a:r>
              <a:rPr lang="en-US" altLang="ko-KR" sz="2800" b="1" dirty="0"/>
              <a:t>int b;</a:t>
            </a:r>
            <a:endParaRPr lang="ko-KR" altLang="en-US" sz="2800" b="1" dirty="0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55094BD3-7483-9A1E-3F32-A9724FCE6E76}"/>
              </a:ext>
            </a:extLst>
          </p:cNvPr>
          <p:cNvSpPr/>
          <p:nvPr/>
        </p:nvSpPr>
        <p:spPr>
          <a:xfrm>
            <a:off x="9874312" y="1068309"/>
            <a:ext cx="2064190" cy="435471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EF73DBA1-7AF2-3B5B-103E-0DAA9D42F972}"/>
              </a:ext>
            </a:extLst>
          </p:cNvPr>
          <p:cNvSpPr/>
          <p:nvPr/>
        </p:nvSpPr>
        <p:spPr>
          <a:xfrm>
            <a:off x="9874312" y="1068309"/>
            <a:ext cx="2024959" cy="1835501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tx1"/>
                </a:solidFill>
              </a:rPr>
              <a:t>a (40)</a:t>
            </a:r>
            <a:endParaRPr lang="ko-KR" altLang="en-US" sz="4000" dirty="0">
              <a:solidFill>
                <a:schemeClr val="tx1"/>
              </a:solidFill>
            </a:endParaRPr>
          </a:p>
        </p:txBody>
      </p:sp>
      <p:sp>
        <p:nvSpPr>
          <p:cNvPr id="19" name="말풍선: 타원형 18">
            <a:extLst>
              <a:ext uri="{FF2B5EF4-FFF2-40B4-BE49-F238E27FC236}">
                <a16:creationId xmlns:a16="http://schemas.microsoft.com/office/drawing/2014/main" id="{E493B407-1C8C-27BE-2387-560A18055DEE}"/>
              </a:ext>
            </a:extLst>
          </p:cNvPr>
          <p:cNvSpPr/>
          <p:nvPr/>
        </p:nvSpPr>
        <p:spPr>
          <a:xfrm rot="5884297">
            <a:off x="4512576" y="789763"/>
            <a:ext cx="2152440" cy="4911806"/>
          </a:xfrm>
          <a:prstGeom prst="wedgeEllipse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E4050BD-717A-11E8-2DE9-93E7D70ACA30}"/>
              </a:ext>
            </a:extLst>
          </p:cNvPr>
          <p:cNvSpPr txBox="1"/>
          <p:nvPr/>
        </p:nvSpPr>
        <p:spPr>
          <a:xfrm>
            <a:off x="3747379" y="2884454"/>
            <a:ext cx="40846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메모리 정수의 크기</a:t>
            </a:r>
            <a:r>
              <a:rPr lang="en-US" altLang="ko-KR" dirty="0"/>
              <a:t>(4byte)</a:t>
            </a:r>
            <a:r>
              <a:rPr lang="ko-KR" altLang="en-US" dirty="0"/>
              <a:t>의 메모리 공간</a:t>
            </a:r>
            <a:r>
              <a:rPr lang="en-US" altLang="ko-KR" dirty="0"/>
              <a:t>(b)</a:t>
            </a:r>
            <a:r>
              <a:rPr lang="ko-KR" altLang="en-US" dirty="0"/>
              <a:t>을 </a:t>
            </a:r>
            <a:r>
              <a:rPr lang="en-US" altLang="ko-KR" dirty="0"/>
              <a:t> </a:t>
            </a:r>
            <a:r>
              <a:rPr lang="ko-KR" altLang="en-US" dirty="0"/>
              <a:t>확보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B75701-B68C-7517-FD27-AFB07A37BAD3}"/>
              </a:ext>
            </a:extLst>
          </p:cNvPr>
          <p:cNvSpPr txBox="1"/>
          <p:nvPr/>
        </p:nvSpPr>
        <p:spPr>
          <a:xfrm>
            <a:off x="3852152" y="252919"/>
            <a:ext cx="48832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변수 선언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메모리 공간확보</a:t>
            </a:r>
            <a:r>
              <a:rPr lang="en-US" altLang="ko-KR" sz="2400" b="1" dirty="0"/>
              <a:t>)</a:t>
            </a:r>
            <a:endParaRPr lang="ko-KR" altLang="en-US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D16DE3-FF80-47B2-60F8-6E1F3B0972B3}"/>
              </a:ext>
            </a:extLst>
          </p:cNvPr>
          <p:cNvSpPr txBox="1"/>
          <p:nvPr/>
        </p:nvSpPr>
        <p:spPr>
          <a:xfrm>
            <a:off x="8969152" y="1074229"/>
            <a:ext cx="11388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0x45</a:t>
            </a:r>
            <a:endParaRPr lang="ko-KR" altLang="en-US" sz="2800" b="1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5DEEEE3-68AF-680E-D661-61E50A99B6C9}"/>
              </a:ext>
            </a:extLst>
          </p:cNvPr>
          <p:cNvSpPr/>
          <p:nvPr/>
        </p:nvSpPr>
        <p:spPr>
          <a:xfrm>
            <a:off x="9874311" y="3570139"/>
            <a:ext cx="2024959" cy="1835501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tx1"/>
                </a:solidFill>
              </a:rPr>
              <a:t>b</a:t>
            </a:r>
            <a:endParaRPr lang="ko-KR" altLang="en-US" sz="40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EFAC8A-0C47-0949-C188-5F8B49F368CB}"/>
              </a:ext>
            </a:extLst>
          </p:cNvPr>
          <p:cNvSpPr txBox="1"/>
          <p:nvPr/>
        </p:nvSpPr>
        <p:spPr>
          <a:xfrm>
            <a:off x="8852294" y="3570139"/>
            <a:ext cx="11388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0x9A</a:t>
            </a:r>
            <a:endParaRPr lang="ko-KR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0565802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3D851-C46F-886B-741E-CC0505A43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5FA393-4BF2-6AF5-38A6-434EC1E00BD7}"/>
              </a:ext>
            </a:extLst>
          </p:cNvPr>
          <p:cNvSpPr txBox="1"/>
          <p:nvPr/>
        </p:nvSpPr>
        <p:spPr>
          <a:xfrm>
            <a:off x="1285593" y="1068309"/>
            <a:ext cx="248366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int a = 40</a:t>
            </a:r>
          </a:p>
          <a:p>
            <a:endParaRPr lang="en-US" altLang="ko-KR" sz="2800" b="1" dirty="0"/>
          </a:p>
          <a:p>
            <a:r>
              <a:rPr lang="en-US" altLang="ko-KR" sz="2800" b="1" dirty="0"/>
              <a:t>int b;</a:t>
            </a:r>
          </a:p>
          <a:p>
            <a:endParaRPr lang="en-US" altLang="ko-KR" sz="2800" b="1" dirty="0"/>
          </a:p>
          <a:p>
            <a:r>
              <a:rPr lang="en-US" altLang="ko-KR" sz="2800" b="1" dirty="0"/>
              <a:t>b= a +50</a:t>
            </a:r>
            <a:endParaRPr lang="ko-KR" altLang="en-US" sz="2800" b="1" dirty="0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70B6B78E-EC78-85F9-85A1-D604C18B1690}"/>
              </a:ext>
            </a:extLst>
          </p:cNvPr>
          <p:cNvSpPr/>
          <p:nvPr/>
        </p:nvSpPr>
        <p:spPr>
          <a:xfrm>
            <a:off x="9874312" y="1068309"/>
            <a:ext cx="2064190" cy="435471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7D85C9E3-2F8A-297C-A307-C3EB07A29AAA}"/>
              </a:ext>
            </a:extLst>
          </p:cNvPr>
          <p:cNvSpPr/>
          <p:nvPr/>
        </p:nvSpPr>
        <p:spPr>
          <a:xfrm>
            <a:off x="9874312" y="1068309"/>
            <a:ext cx="2024959" cy="1835501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tx1"/>
                </a:solidFill>
              </a:rPr>
              <a:t>a (40)</a:t>
            </a:r>
            <a:endParaRPr lang="ko-KR" altLang="en-US" sz="40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91E7CD-7FC6-27F9-A52F-1F61ABB3CED2}"/>
              </a:ext>
            </a:extLst>
          </p:cNvPr>
          <p:cNvSpPr txBox="1"/>
          <p:nvPr/>
        </p:nvSpPr>
        <p:spPr>
          <a:xfrm>
            <a:off x="3852152" y="252919"/>
            <a:ext cx="48832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변수 선언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메모리 공간확보</a:t>
            </a:r>
            <a:r>
              <a:rPr lang="en-US" altLang="ko-KR" sz="2400" b="1" dirty="0"/>
              <a:t>)</a:t>
            </a:r>
            <a:endParaRPr lang="ko-KR" altLang="en-US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277124-BBF1-3BAD-1C8C-FAFBDEA20FDA}"/>
              </a:ext>
            </a:extLst>
          </p:cNvPr>
          <p:cNvSpPr txBox="1"/>
          <p:nvPr/>
        </p:nvSpPr>
        <p:spPr>
          <a:xfrm>
            <a:off x="8969152" y="1074229"/>
            <a:ext cx="11388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0x45</a:t>
            </a:r>
            <a:endParaRPr lang="ko-KR" altLang="en-US" sz="2800" b="1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658642B-55BF-37E3-1157-D3BBDEED39CC}"/>
              </a:ext>
            </a:extLst>
          </p:cNvPr>
          <p:cNvSpPr/>
          <p:nvPr/>
        </p:nvSpPr>
        <p:spPr>
          <a:xfrm>
            <a:off x="9874311" y="3570139"/>
            <a:ext cx="2024959" cy="1835501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tx1"/>
                </a:solidFill>
              </a:rPr>
              <a:t>b(90)</a:t>
            </a:r>
            <a:endParaRPr lang="ko-KR" altLang="en-US" sz="40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931E02-9EE2-2D40-301B-A9E28AE00F71}"/>
              </a:ext>
            </a:extLst>
          </p:cNvPr>
          <p:cNvSpPr txBox="1"/>
          <p:nvPr/>
        </p:nvSpPr>
        <p:spPr>
          <a:xfrm>
            <a:off x="8852294" y="3585048"/>
            <a:ext cx="11388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0x9A</a:t>
            </a:r>
            <a:endParaRPr lang="ko-KR" altLang="en-US" sz="2800" b="1" dirty="0"/>
          </a:p>
        </p:txBody>
      </p:sp>
      <p:sp>
        <p:nvSpPr>
          <p:cNvPr id="8" name="말풍선: 타원형 7">
            <a:extLst>
              <a:ext uri="{FF2B5EF4-FFF2-40B4-BE49-F238E27FC236}">
                <a16:creationId xmlns:a16="http://schemas.microsoft.com/office/drawing/2014/main" id="{E18D17E4-B4A8-0BEA-645C-C06A1A8F429A}"/>
              </a:ext>
            </a:extLst>
          </p:cNvPr>
          <p:cNvSpPr/>
          <p:nvPr/>
        </p:nvSpPr>
        <p:spPr>
          <a:xfrm rot="5884297">
            <a:off x="5076531" y="1539344"/>
            <a:ext cx="2152440" cy="4911806"/>
          </a:xfrm>
          <a:prstGeom prst="wedgeEllipse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420C38-3544-2A6D-FBA0-BB3620B543A8}"/>
              </a:ext>
            </a:extLst>
          </p:cNvPr>
          <p:cNvSpPr txBox="1"/>
          <p:nvPr/>
        </p:nvSpPr>
        <p:spPr>
          <a:xfrm>
            <a:off x="4251483" y="3672081"/>
            <a:ext cx="40846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</a:t>
            </a:r>
            <a:r>
              <a:rPr lang="ko-KR" altLang="en-US" dirty="0"/>
              <a:t>변수에 저장된 </a:t>
            </a:r>
            <a:r>
              <a:rPr lang="en-US" altLang="ko-KR" dirty="0"/>
              <a:t>40</a:t>
            </a:r>
            <a:r>
              <a:rPr lang="ko-KR" altLang="en-US" dirty="0"/>
              <a:t>의 값을 읽어서 </a:t>
            </a:r>
            <a:r>
              <a:rPr lang="en-US" altLang="ko-KR" dirty="0"/>
              <a:t>50</a:t>
            </a:r>
            <a:r>
              <a:rPr lang="ko-KR" altLang="en-US" dirty="0"/>
              <a:t>과 더한 </a:t>
            </a:r>
            <a:r>
              <a:rPr lang="ko-KR" altLang="en-US" dirty="0" err="1"/>
              <a:t>결괄르</a:t>
            </a:r>
            <a:r>
              <a:rPr lang="ko-KR" altLang="en-US" dirty="0"/>
              <a:t> 변수 </a:t>
            </a:r>
            <a:r>
              <a:rPr lang="en-US" altLang="ko-KR" dirty="0"/>
              <a:t>b</a:t>
            </a:r>
            <a:r>
              <a:rPr lang="ko-KR" altLang="en-US" dirty="0"/>
              <a:t>에 저장</a:t>
            </a:r>
          </a:p>
        </p:txBody>
      </p:sp>
    </p:spTree>
    <p:extLst>
      <p:ext uri="{BB962C8B-B14F-4D97-AF65-F5344CB8AC3E}">
        <p14:creationId xmlns:p14="http://schemas.microsoft.com/office/powerpoint/2010/main" val="1014570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343</Words>
  <Application>Microsoft Office PowerPoint</Application>
  <PresentationFormat>와이드스크린</PresentationFormat>
  <Paragraphs>101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jaeoh lee</dc:creator>
  <cp:lastModifiedBy>jaeoh lee</cp:lastModifiedBy>
  <cp:revision>3</cp:revision>
  <dcterms:created xsi:type="dcterms:W3CDTF">2025-05-10T03:14:53Z</dcterms:created>
  <dcterms:modified xsi:type="dcterms:W3CDTF">2025-05-11T09:32:20Z</dcterms:modified>
</cp:coreProperties>
</file>